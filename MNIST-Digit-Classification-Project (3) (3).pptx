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1430000" cy="6445250"/>
  <p:notesSz cx="11430000" cy="64452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85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006646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006646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006646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006646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E5F9F2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6103" y="399011"/>
            <a:ext cx="6626828" cy="9662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006646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500" y="2657475"/>
            <a:ext cx="10287000" cy="19983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27537" y="15605"/>
            <a:ext cx="4286250" cy="643864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5" y="2254250"/>
            <a:ext cx="5788025" cy="1111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95"/>
              </a:spcBef>
            </a:pPr>
            <a:r>
              <a:rPr spc="-155" dirty="0"/>
              <a:t>MNIST</a:t>
            </a:r>
            <a:r>
              <a:rPr spc="-265" dirty="0"/>
              <a:t> </a:t>
            </a:r>
            <a:r>
              <a:rPr spc="-135" dirty="0"/>
              <a:t>Digit</a:t>
            </a:r>
            <a:r>
              <a:rPr spc="-265" dirty="0"/>
              <a:t> </a:t>
            </a:r>
            <a:r>
              <a:rPr spc="-114" dirty="0"/>
              <a:t>Classification </a:t>
            </a:r>
            <a:r>
              <a:rPr spc="-50" dirty="0"/>
              <a:t>Project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87375" y="3545840"/>
            <a:ext cx="5835650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spc="-35" dirty="0">
                <a:solidFill>
                  <a:srgbClr val="4B4A4A"/>
                </a:solidFill>
                <a:latin typeface="Verdana"/>
                <a:cs typeface="Verdana"/>
              </a:rPr>
              <a:t>A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comprehensive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implementation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4B4A4A"/>
                </a:solidFill>
                <a:latin typeface="Verdana"/>
                <a:cs typeface="Verdana"/>
              </a:rPr>
              <a:t>of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a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neural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network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for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handwritten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digit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recognition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using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TensorFlow/Keras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and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the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MNIST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dataset</a:t>
            </a:r>
            <a:endParaRPr sz="1350" dirty="0">
              <a:latin typeface="Verdana"/>
              <a:cs typeface="Verdan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06B07C-7B22-0096-7299-B6F6B2F67208}"/>
              </a:ext>
            </a:extLst>
          </p:cNvPr>
          <p:cNvSpPr txBox="1"/>
          <p:nvPr/>
        </p:nvSpPr>
        <p:spPr>
          <a:xfrm>
            <a:off x="4003337" y="5661025"/>
            <a:ext cx="22450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Made by ADITI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2363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125"/>
              </a:spcBef>
            </a:pPr>
            <a:r>
              <a:rPr spc="-195" dirty="0"/>
              <a:t>Executive</a:t>
            </a:r>
            <a:r>
              <a:rPr spc="-250" dirty="0"/>
              <a:t> </a:t>
            </a:r>
            <a:r>
              <a:rPr spc="-160" dirty="0"/>
              <a:t>Summary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1800225"/>
            <a:ext cx="6505574" cy="362902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7553325" y="41052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4B4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553325" y="47148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4B4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553325" y="5324476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84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84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4B4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518006" y="1849437"/>
            <a:ext cx="3299460" cy="36080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90" dirty="0">
                <a:solidFill>
                  <a:srgbClr val="006646"/>
                </a:solidFill>
                <a:latin typeface="Verdana"/>
                <a:cs typeface="Verdana"/>
              </a:rPr>
              <a:t>Project</a:t>
            </a:r>
            <a:r>
              <a:rPr sz="1650" b="1" spc="-85" dirty="0">
                <a:solidFill>
                  <a:srgbClr val="006646"/>
                </a:solidFill>
                <a:latin typeface="Verdana"/>
                <a:cs typeface="Verdana"/>
              </a:rPr>
              <a:t> </a:t>
            </a:r>
            <a:r>
              <a:rPr sz="1650" b="1" spc="-10" dirty="0">
                <a:solidFill>
                  <a:srgbClr val="006646"/>
                </a:solidFill>
                <a:latin typeface="Verdana"/>
                <a:cs typeface="Verdana"/>
              </a:rPr>
              <a:t>Objective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2700"/>
              </a:lnSpc>
              <a:spcBef>
                <a:spcPts val="1015"/>
              </a:spcBef>
            </a:pP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Build,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train,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and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evaluate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a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neural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4B4A4A"/>
                </a:solidFill>
                <a:latin typeface="Verdana"/>
                <a:cs typeface="Verdana"/>
              </a:rPr>
              <a:t>network </a:t>
            </a:r>
            <a:r>
              <a:rPr sz="1350" spc="-50" dirty="0">
                <a:solidFill>
                  <a:srgbClr val="4B4A4A"/>
                </a:solidFill>
                <a:latin typeface="Verdana"/>
                <a:cs typeface="Verdana"/>
              </a:rPr>
              <a:t>capable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4B4A4A"/>
                </a:solidFill>
                <a:latin typeface="Verdana"/>
                <a:cs typeface="Verdana"/>
              </a:rPr>
              <a:t>of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4B4A4A"/>
                </a:solidFill>
                <a:latin typeface="Verdana"/>
                <a:cs typeface="Verdana"/>
              </a:rPr>
              <a:t>classifying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handwritten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digits 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from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the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MNIST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dataset,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then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4B4A4A"/>
                </a:solidFill>
                <a:latin typeface="Verdana"/>
                <a:cs typeface="Verdana"/>
              </a:rPr>
              <a:t>test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4B4A4A"/>
                </a:solidFill>
                <a:latin typeface="Verdana"/>
                <a:cs typeface="Verdana"/>
              </a:rPr>
              <a:t>on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custom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 user-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provided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images.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650" b="1" spc="-105" dirty="0">
                <a:solidFill>
                  <a:srgbClr val="006646"/>
                </a:solidFill>
                <a:latin typeface="Verdana"/>
                <a:cs typeface="Verdana"/>
              </a:rPr>
              <a:t>Key</a:t>
            </a:r>
            <a:r>
              <a:rPr sz="1650" b="1" spc="-114" dirty="0">
                <a:solidFill>
                  <a:srgbClr val="006646"/>
                </a:solidFill>
                <a:latin typeface="Verdana"/>
                <a:cs typeface="Verdana"/>
              </a:rPr>
              <a:t> </a:t>
            </a:r>
            <a:r>
              <a:rPr sz="1650" b="1" spc="-10" dirty="0">
                <a:solidFill>
                  <a:srgbClr val="006646"/>
                </a:solidFill>
                <a:latin typeface="Verdana"/>
                <a:cs typeface="Verdana"/>
              </a:rPr>
              <a:t>Achievements</a:t>
            </a:r>
            <a:endParaRPr sz="1650">
              <a:latin typeface="Verdana"/>
              <a:cs typeface="Verdana"/>
            </a:endParaRPr>
          </a:p>
          <a:p>
            <a:pPr marL="286385" marR="154305">
              <a:lnSpc>
                <a:spcPct val="134300"/>
              </a:lnSpc>
              <a:spcBef>
                <a:spcPts val="915"/>
              </a:spcBef>
            </a:pPr>
            <a:r>
              <a:rPr sz="1350" spc="-204" dirty="0">
                <a:solidFill>
                  <a:srgbClr val="4B4A4A"/>
                </a:solidFill>
                <a:latin typeface="Verdana"/>
                <a:cs typeface="Verdana"/>
              </a:rPr>
              <a:t>97.5%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4B4A4A"/>
                </a:solidFill>
                <a:latin typeface="Verdana"/>
                <a:cs typeface="Verdana"/>
              </a:rPr>
              <a:t>test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accuracy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(exceeding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90%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target)</a:t>
            </a:r>
            <a:endParaRPr sz="1350">
              <a:latin typeface="Verdana"/>
              <a:cs typeface="Verdana"/>
            </a:endParaRPr>
          </a:p>
          <a:p>
            <a:pPr marL="286385" marR="66675">
              <a:lnSpc>
                <a:spcPct val="134300"/>
              </a:lnSpc>
              <a:spcBef>
                <a:spcPts val="450"/>
              </a:spcBef>
            </a:pPr>
            <a:r>
              <a:rPr sz="1350" spc="-40" dirty="0">
                <a:solidFill>
                  <a:srgbClr val="4B4A4A"/>
                </a:solidFill>
                <a:latin typeface="Verdana"/>
                <a:cs typeface="Verdana"/>
              </a:rPr>
              <a:t>Successfully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predicted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custom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image </a:t>
            </a:r>
            <a:r>
              <a:rPr sz="1350" spc="-45" dirty="0">
                <a:solidFill>
                  <a:srgbClr val="4B4A4A"/>
                </a:solidFill>
                <a:latin typeface="Verdana"/>
                <a:cs typeface="Verdana"/>
              </a:rPr>
              <a:t>as</a:t>
            </a:r>
            <a:r>
              <a:rPr sz="1350" spc="-12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digit</a:t>
            </a:r>
            <a:r>
              <a:rPr sz="1350" spc="-114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4B4A4A"/>
                </a:solidFill>
                <a:latin typeface="Verdana"/>
                <a:cs typeface="Verdana"/>
              </a:rPr>
              <a:t>3</a:t>
            </a:r>
            <a:endParaRPr sz="1350">
              <a:latin typeface="Verdana"/>
              <a:cs typeface="Verdana"/>
            </a:endParaRPr>
          </a:p>
          <a:p>
            <a:pPr marL="286385">
              <a:lnSpc>
                <a:spcPct val="100000"/>
              </a:lnSpc>
              <a:spcBef>
                <a:spcPts val="1005"/>
              </a:spcBef>
            </a:pP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Robust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50" dirty="0">
                <a:solidFill>
                  <a:srgbClr val="4B4A4A"/>
                </a:solidFill>
                <a:latin typeface="Verdana"/>
                <a:cs typeface="Verdana"/>
              </a:rPr>
              <a:t>98.8%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training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accuracy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1520825"/>
            <a:ext cx="382079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50" dirty="0"/>
              <a:t>Dataset</a:t>
            </a:r>
            <a:r>
              <a:rPr spc="-254" dirty="0"/>
              <a:t> </a:t>
            </a:r>
            <a:r>
              <a:rPr spc="-190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0124" y="2421889"/>
            <a:ext cx="2256790" cy="1720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4450" b="1" spc="-420" dirty="0">
                <a:solidFill>
                  <a:srgbClr val="4B4A4A"/>
                </a:solidFill>
                <a:latin typeface="Verdana"/>
                <a:cs typeface="Verdana"/>
              </a:rPr>
              <a:t>60K</a:t>
            </a:r>
            <a:endParaRPr sz="4450">
              <a:latin typeface="Verdana"/>
              <a:cs typeface="Verdana"/>
            </a:endParaRPr>
          </a:p>
          <a:p>
            <a:pPr marL="12065" marR="5080" indent="-635" algn="ctr">
              <a:lnSpc>
                <a:spcPct val="141000"/>
              </a:lnSpc>
              <a:spcBef>
                <a:spcPts val="470"/>
              </a:spcBef>
            </a:pPr>
            <a:r>
              <a:rPr sz="1650" b="1" spc="-50" dirty="0">
                <a:solidFill>
                  <a:srgbClr val="4B4A4A"/>
                </a:solidFill>
                <a:latin typeface="Verdana"/>
                <a:cs typeface="Verdana"/>
              </a:rPr>
              <a:t>Training</a:t>
            </a:r>
            <a:r>
              <a:rPr sz="1650" b="1" spc="-8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650" b="1" spc="-10" dirty="0">
                <a:solidFill>
                  <a:srgbClr val="4B4A4A"/>
                </a:solidFill>
                <a:latin typeface="Verdana"/>
                <a:cs typeface="Verdana"/>
              </a:rPr>
              <a:t>Imagcs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Handwritten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digits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for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model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training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08105" y="2421889"/>
            <a:ext cx="2202815" cy="14446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4450" b="1" spc="-25" dirty="0">
                <a:solidFill>
                  <a:srgbClr val="4B4A4A"/>
                </a:solidFill>
                <a:latin typeface="Verdana"/>
                <a:cs typeface="Verdana"/>
              </a:rPr>
              <a:t>f0K</a:t>
            </a:r>
            <a:endParaRPr sz="44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285"/>
              </a:spcBef>
            </a:pPr>
            <a:r>
              <a:rPr sz="1650" b="1" spc="-145" dirty="0">
                <a:solidFill>
                  <a:srgbClr val="4B4A4A"/>
                </a:solidFill>
                <a:latin typeface="Verdana"/>
                <a:cs typeface="Verdana"/>
              </a:rPr>
              <a:t>Tcs”</a:t>
            </a:r>
            <a:r>
              <a:rPr sz="1650" b="1" spc="-114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650" b="1" spc="-10" dirty="0">
                <a:solidFill>
                  <a:srgbClr val="4B4A4A"/>
                </a:solidFill>
                <a:latin typeface="Verdana"/>
                <a:cs typeface="Verdana"/>
              </a:rPr>
              <a:t>Imagcs</a:t>
            </a:r>
            <a:endParaRPr sz="16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Unseen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digits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for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4B4A4A"/>
                </a:solidFill>
                <a:latin typeface="Verdana"/>
                <a:cs typeface="Verdana"/>
              </a:rPr>
              <a:t>evaluation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58883" y="2421889"/>
            <a:ext cx="2123440" cy="14446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1760">
              <a:lnSpc>
                <a:spcPct val="100000"/>
              </a:lnSpc>
              <a:spcBef>
                <a:spcPts val="105"/>
              </a:spcBef>
            </a:pPr>
            <a:r>
              <a:rPr sz="4450" b="1" spc="-355" dirty="0">
                <a:solidFill>
                  <a:srgbClr val="4B4A4A"/>
                </a:solidFill>
                <a:latin typeface="Verdana"/>
                <a:cs typeface="Verdana"/>
              </a:rPr>
              <a:t>2S×2S</a:t>
            </a:r>
            <a:endParaRPr sz="4450">
              <a:latin typeface="Verdana"/>
              <a:cs typeface="Verdana"/>
            </a:endParaRPr>
          </a:p>
          <a:p>
            <a:pPr marL="46355">
              <a:lnSpc>
                <a:spcPct val="100000"/>
              </a:lnSpc>
              <a:spcBef>
                <a:spcPts val="1285"/>
              </a:spcBef>
            </a:pPr>
            <a:r>
              <a:rPr sz="1650" b="1" spc="-120" dirty="0">
                <a:solidFill>
                  <a:srgbClr val="4B4A4A"/>
                </a:solidFill>
                <a:latin typeface="Verdana"/>
                <a:cs typeface="Verdana"/>
              </a:rPr>
              <a:t>Imagc</a:t>
            </a:r>
            <a:r>
              <a:rPr sz="1650" b="1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650" b="1" spc="-10" dirty="0">
                <a:solidFill>
                  <a:srgbClr val="4B4A4A"/>
                </a:solidFill>
                <a:latin typeface="Verdana"/>
                <a:cs typeface="Verdana"/>
              </a:rPr>
              <a:t>Dimcnsions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Grayscale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pixels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per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4B4A4A"/>
                </a:solidFill>
                <a:latin typeface="Verdana"/>
                <a:cs typeface="Verdana"/>
              </a:rPr>
              <a:t>image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14758" y="2421889"/>
            <a:ext cx="1433830" cy="14446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4450" b="1" spc="50" dirty="0">
                <a:solidFill>
                  <a:srgbClr val="4B4A4A"/>
                </a:solidFill>
                <a:latin typeface="Verdana"/>
                <a:cs typeface="Verdana"/>
              </a:rPr>
              <a:t>f0</a:t>
            </a:r>
            <a:endParaRPr sz="44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285"/>
              </a:spcBef>
            </a:pPr>
            <a:r>
              <a:rPr sz="1650" b="1" spc="-10" dirty="0">
                <a:solidFill>
                  <a:srgbClr val="4B4A4A"/>
                </a:solidFill>
                <a:latin typeface="Verdana"/>
                <a:cs typeface="Verdana"/>
              </a:rPr>
              <a:t>Classcs</a:t>
            </a:r>
            <a:endParaRPr sz="16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Digits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4B4A4A"/>
                </a:solidFill>
                <a:latin typeface="Verdana"/>
                <a:cs typeface="Verdana"/>
              </a:rPr>
              <a:t>0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through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4B4A4A"/>
                </a:solidFill>
                <a:latin typeface="Verdana"/>
                <a:cs typeface="Verdana"/>
              </a:rPr>
              <a:t>9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62400" y="4391025"/>
            <a:ext cx="1666875" cy="228600"/>
          </a:xfrm>
          <a:custGeom>
            <a:avLst/>
            <a:gdLst/>
            <a:ahLst/>
            <a:cxnLst/>
            <a:rect l="l" t="t" r="r" b="b"/>
            <a:pathLst>
              <a:path w="1666875" h="228600">
                <a:moveTo>
                  <a:pt x="1648282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207175"/>
                </a:lnTo>
                <a:lnTo>
                  <a:pt x="0" y="210007"/>
                </a:lnTo>
                <a:lnTo>
                  <a:pt x="18592" y="228600"/>
                </a:lnTo>
                <a:lnTo>
                  <a:pt x="1648282" y="228600"/>
                </a:lnTo>
                <a:lnTo>
                  <a:pt x="1666875" y="210007"/>
                </a:lnTo>
                <a:lnTo>
                  <a:pt x="1666875" y="18592"/>
                </a:lnTo>
                <a:lnTo>
                  <a:pt x="1651025" y="546"/>
                </a:lnTo>
                <a:lnTo>
                  <a:pt x="1648282" y="0"/>
                </a:lnTo>
                <a:close/>
              </a:path>
            </a:pathLst>
          </a:custGeom>
          <a:solidFill>
            <a:srgbClr val="D8EC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87362" y="4326890"/>
            <a:ext cx="966660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The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MNIST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dataset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4B4A4A"/>
                </a:solidFill>
                <a:latin typeface="Verdana"/>
                <a:cs typeface="Verdana"/>
              </a:rPr>
              <a:t>is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loaded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directly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using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keras.datasets.mnist,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providing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a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perfect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4B4A4A"/>
                </a:solidFill>
                <a:latin typeface="Verdana"/>
                <a:cs typeface="Verdana"/>
              </a:rPr>
              <a:t>split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between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training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and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4B4A4A"/>
                </a:solidFill>
                <a:latin typeface="Verdana"/>
                <a:cs typeface="Verdana"/>
              </a:rPr>
              <a:t>test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4B4A4A"/>
                </a:solidFill>
                <a:latin typeface="Verdana"/>
                <a:cs typeface="Verdana"/>
              </a:rPr>
              <a:t>sets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4B4A4A"/>
                </a:solidFill>
                <a:latin typeface="Verdana"/>
                <a:cs typeface="Verdana"/>
              </a:rPr>
              <a:t>for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reliable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model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evaluation.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501505" cy="6436995"/>
          </a:xfrm>
          <a:custGeom>
            <a:avLst/>
            <a:gdLst/>
            <a:ahLst/>
            <a:cxnLst/>
            <a:rect l="l" t="t" r="r" b="b"/>
            <a:pathLst>
              <a:path w="9501505" h="6436995">
                <a:moveTo>
                  <a:pt x="9501018" y="0"/>
                </a:moveTo>
                <a:lnTo>
                  <a:pt x="0" y="0"/>
                </a:lnTo>
                <a:lnTo>
                  <a:pt x="0" y="6436939"/>
                </a:lnTo>
                <a:lnTo>
                  <a:pt x="9501018" y="6436939"/>
                </a:lnTo>
                <a:lnTo>
                  <a:pt x="9501018" y="0"/>
                </a:lnTo>
                <a:close/>
              </a:path>
            </a:pathLst>
          </a:custGeom>
          <a:solidFill>
            <a:srgbClr val="E5F9F2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38136" y="0"/>
            <a:ext cx="4729864" cy="643693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86103" y="399011"/>
            <a:ext cx="2894965" cy="89661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ts val="3490"/>
              </a:lnSpc>
              <a:spcBef>
                <a:spcPts val="75"/>
              </a:spcBef>
            </a:pPr>
            <a:r>
              <a:rPr sz="2800" spc="-150" dirty="0"/>
              <a:t>Neural</a:t>
            </a:r>
            <a:r>
              <a:rPr sz="2800" spc="-210" dirty="0"/>
              <a:t> </a:t>
            </a:r>
            <a:r>
              <a:rPr sz="2800" spc="-180" dirty="0"/>
              <a:t>Network </a:t>
            </a:r>
            <a:r>
              <a:rPr sz="2800" spc="-45" dirty="0"/>
              <a:t>Architecture</a:t>
            </a:r>
            <a:endParaRPr sz="2800"/>
          </a:p>
        </p:txBody>
      </p:sp>
      <p:sp>
        <p:nvSpPr>
          <p:cNvPr id="7" name="object 7"/>
          <p:cNvSpPr/>
          <p:nvPr/>
        </p:nvSpPr>
        <p:spPr>
          <a:xfrm>
            <a:off x="498803" y="1726018"/>
            <a:ext cx="4940935" cy="15875"/>
          </a:xfrm>
          <a:custGeom>
            <a:avLst/>
            <a:gdLst/>
            <a:ahLst/>
            <a:cxnLst/>
            <a:rect l="l" t="t" r="r" b="b"/>
            <a:pathLst>
              <a:path w="4940935" h="15875">
                <a:moveTo>
                  <a:pt x="4940529" y="0"/>
                </a:moveTo>
                <a:lnTo>
                  <a:pt x="0" y="0"/>
                </a:lnTo>
                <a:lnTo>
                  <a:pt x="0" y="15835"/>
                </a:lnTo>
                <a:lnTo>
                  <a:pt x="4940529" y="15835"/>
                </a:lnTo>
                <a:lnTo>
                  <a:pt x="4940529" y="0"/>
                </a:lnTo>
                <a:close/>
              </a:path>
            </a:pathLst>
          </a:custGeom>
          <a:solidFill>
            <a:srgbClr val="006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8803" y="2842388"/>
            <a:ext cx="4940935" cy="15875"/>
          </a:xfrm>
          <a:custGeom>
            <a:avLst/>
            <a:gdLst/>
            <a:ahLst/>
            <a:cxnLst/>
            <a:rect l="l" t="t" r="r" b="b"/>
            <a:pathLst>
              <a:path w="4940935" h="15875">
                <a:moveTo>
                  <a:pt x="4940529" y="0"/>
                </a:moveTo>
                <a:lnTo>
                  <a:pt x="0" y="0"/>
                </a:lnTo>
                <a:lnTo>
                  <a:pt x="0" y="15835"/>
                </a:lnTo>
                <a:lnTo>
                  <a:pt x="4940529" y="15835"/>
                </a:lnTo>
                <a:lnTo>
                  <a:pt x="4940529" y="0"/>
                </a:lnTo>
                <a:close/>
              </a:path>
            </a:pathLst>
          </a:custGeom>
          <a:solidFill>
            <a:srgbClr val="006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8803" y="3950840"/>
            <a:ext cx="4940935" cy="15875"/>
          </a:xfrm>
          <a:custGeom>
            <a:avLst/>
            <a:gdLst/>
            <a:ahLst/>
            <a:cxnLst/>
            <a:rect l="l" t="t" r="r" b="b"/>
            <a:pathLst>
              <a:path w="4940935" h="15875">
                <a:moveTo>
                  <a:pt x="4940529" y="0"/>
                </a:moveTo>
                <a:lnTo>
                  <a:pt x="0" y="0"/>
                </a:lnTo>
                <a:lnTo>
                  <a:pt x="0" y="15835"/>
                </a:lnTo>
                <a:lnTo>
                  <a:pt x="4940529" y="15835"/>
                </a:lnTo>
                <a:lnTo>
                  <a:pt x="4940529" y="0"/>
                </a:lnTo>
                <a:close/>
              </a:path>
            </a:pathLst>
          </a:custGeom>
          <a:solidFill>
            <a:srgbClr val="006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98803" y="5296818"/>
            <a:ext cx="4940935" cy="15875"/>
          </a:xfrm>
          <a:custGeom>
            <a:avLst/>
            <a:gdLst/>
            <a:ahLst/>
            <a:cxnLst/>
            <a:rect l="l" t="t" r="r" b="b"/>
            <a:pathLst>
              <a:path w="4940935" h="15875">
                <a:moveTo>
                  <a:pt x="4940529" y="0"/>
                </a:moveTo>
                <a:lnTo>
                  <a:pt x="0" y="0"/>
                </a:lnTo>
                <a:lnTo>
                  <a:pt x="0" y="15835"/>
                </a:lnTo>
                <a:lnTo>
                  <a:pt x="4940529" y="15835"/>
                </a:lnTo>
                <a:lnTo>
                  <a:pt x="4940529" y="0"/>
                </a:lnTo>
                <a:close/>
              </a:path>
            </a:pathLst>
          </a:custGeom>
          <a:solidFill>
            <a:srgbClr val="006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80288" y="1491628"/>
            <a:ext cx="4954270" cy="441706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90" dirty="0">
                <a:solidFill>
                  <a:srgbClr val="4B4A4A"/>
                </a:solidFill>
                <a:latin typeface="Trebuchet MS"/>
                <a:cs typeface="Trebuchet MS"/>
              </a:rPr>
              <a:t>0!</a:t>
            </a:r>
            <a:endParaRPr sz="1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Trebuchet MS"/>
              <a:cs typeface="Trebuchet MS"/>
            </a:endParaRPr>
          </a:p>
          <a:p>
            <a:pPr marL="18415">
              <a:lnSpc>
                <a:spcPct val="100000"/>
              </a:lnSpc>
            </a:pPr>
            <a:r>
              <a:rPr sz="1400" b="1" spc="-90" dirty="0">
                <a:solidFill>
                  <a:srgbClr val="4B4A4A"/>
                </a:solidFill>
                <a:latin typeface="Verdana"/>
                <a:cs typeface="Verdana"/>
              </a:rPr>
              <a:t>Input</a:t>
            </a:r>
            <a:r>
              <a:rPr sz="1400" b="1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400" b="1" spc="-10" dirty="0">
                <a:solidFill>
                  <a:srgbClr val="4B4A4A"/>
                </a:solidFill>
                <a:latin typeface="Verdana"/>
                <a:cs typeface="Verdana"/>
              </a:rPr>
              <a:t>Layer</a:t>
            </a:r>
            <a:endParaRPr sz="1400">
              <a:latin typeface="Verdana"/>
              <a:cs typeface="Verdana"/>
            </a:endParaRPr>
          </a:p>
          <a:p>
            <a:pPr marL="18415">
              <a:lnSpc>
                <a:spcPct val="100000"/>
              </a:lnSpc>
              <a:spcBef>
                <a:spcPts val="800"/>
              </a:spcBef>
            </a:pPr>
            <a:r>
              <a:rPr sz="1100" spc="-40" dirty="0">
                <a:solidFill>
                  <a:srgbClr val="4B4A4A"/>
                </a:solidFill>
                <a:latin typeface="Verdana"/>
                <a:cs typeface="Verdana"/>
              </a:rPr>
              <a:t>Flatten</a:t>
            </a:r>
            <a:r>
              <a:rPr sz="1100" spc="-8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60" dirty="0">
                <a:solidFill>
                  <a:srgbClr val="4B4A4A"/>
                </a:solidFill>
                <a:latin typeface="Verdana"/>
                <a:cs typeface="Verdana"/>
              </a:rPr>
              <a:t>layer</a:t>
            </a:r>
            <a:r>
              <a:rPr sz="1100" spc="-7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50" dirty="0">
                <a:solidFill>
                  <a:srgbClr val="4B4A4A"/>
                </a:solidFill>
                <a:latin typeface="Verdana"/>
                <a:cs typeface="Verdana"/>
              </a:rPr>
              <a:t>converts</a:t>
            </a:r>
            <a:r>
              <a:rPr sz="1100" spc="-7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90" dirty="0">
                <a:solidFill>
                  <a:srgbClr val="4B4A4A"/>
                </a:solidFill>
                <a:latin typeface="Verdana"/>
                <a:cs typeface="Verdana"/>
              </a:rPr>
              <a:t>28×28</a:t>
            </a:r>
            <a:r>
              <a:rPr sz="1100" spc="-7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45" dirty="0">
                <a:solidFill>
                  <a:srgbClr val="4B4A4A"/>
                </a:solidFill>
                <a:latin typeface="Verdana"/>
                <a:cs typeface="Verdana"/>
              </a:rPr>
              <a:t>2D</a:t>
            </a:r>
            <a:r>
              <a:rPr sz="1100" spc="-7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50" dirty="0">
                <a:solidFill>
                  <a:srgbClr val="4B4A4A"/>
                </a:solidFill>
                <a:latin typeface="Verdana"/>
                <a:cs typeface="Verdana"/>
              </a:rPr>
              <a:t>images</a:t>
            </a:r>
            <a:r>
              <a:rPr sz="1100" spc="-7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45" dirty="0">
                <a:solidFill>
                  <a:srgbClr val="4B4A4A"/>
                </a:solidFill>
                <a:latin typeface="Verdana"/>
                <a:cs typeface="Verdana"/>
              </a:rPr>
              <a:t>into</a:t>
            </a:r>
            <a:r>
              <a:rPr sz="1100" spc="-7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180" dirty="0">
                <a:solidFill>
                  <a:srgbClr val="4B4A4A"/>
                </a:solidFill>
                <a:latin typeface="Verdana"/>
                <a:cs typeface="Verdana"/>
              </a:rPr>
              <a:t>1D</a:t>
            </a:r>
            <a:r>
              <a:rPr sz="1100" spc="-7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80" dirty="0">
                <a:solidFill>
                  <a:srgbClr val="4B4A4A"/>
                </a:solidFill>
                <a:latin typeface="Verdana"/>
                <a:cs typeface="Verdana"/>
              </a:rPr>
              <a:t>array</a:t>
            </a:r>
            <a:r>
              <a:rPr sz="1100" spc="-7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4B4A4A"/>
                </a:solidFill>
                <a:latin typeface="Verdana"/>
                <a:cs typeface="Verdana"/>
              </a:rPr>
              <a:t>of</a:t>
            </a:r>
            <a:r>
              <a:rPr sz="1100" spc="-7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65" dirty="0">
                <a:solidFill>
                  <a:srgbClr val="4B4A4A"/>
                </a:solidFill>
                <a:latin typeface="Verdana"/>
                <a:cs typeface="Verdana"/>
              </a:rPr>
              <a:t>784</a:t>
            </a:r>
            <a:r>
              <a:rPr sz="1100" spc="-7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4B4A4A"/>
                </a:solidFill>
                <a:latin typeface="Verdana"/>
                <a:cs typeface="Verdana"/>
              </a:rPr>
              <a:t>neurons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19"/>
              </a:spcBef>
            </a:pP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100" spc="-25" dirty="0">
                <a:solidFill>
                  <a:srgbClr val="4B4A4A"/>
                </a:solidFill>
                <a:latin typeface="Trebuchet MS"/>
                <a:cs typeface="Trebuchet MS"/>
              </a:rPr>
              <a:t>02</a:t>
            </a:r>
            <a:endParaRPr sz="1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Trebuchet MS"/>
              <a:cs typeface="Trebuchet MS"/>
            </a:endParaRPr>
          </a:p>
          <a:p>
            <a:pPr marL="18415">
              <a:lnSpc>
                <a:spcPct val="100000"/>
              </a:lnSpc>
            </a:pPr>
            <a:r>
              <a:rPr sz="1400" b="1" spc="-45" dirty="0">
                <a:solidFill>
                  <a:srgbClr val="4B4A4A"/>
                </a:solidFill>
                <a:latin typeface="Verdana"/>
                <a:cs typeface="Verdana"/>
              </a:rPr>
              <a:t>Hidden</a:t>
            </a:r>
            <a:r>
              <a:rPr sz="1400" b="1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400" b="1" spc="-90" dirty="0">
                <a:solidFill>
                  <a:srgbClr val="4B4A4A"/>
                </a:solidFill>
                <a:latin typeface="Verdana"/>
                <a:cs typeface="Verdana"/>
              </a:rPr>
              <a:t>Layer</a:t>
            </a:r>
            <a:r>
              <a:rPr sz="1400" b="1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400" b="1" spc="185" dirty="0">
                <a:solidFill>
                  <a:srgbClr val="4B4A4A"/>
                </a:solidFill>
                <a:latin typeface="Verdana"/>
                <a:cs typeface="Verdana"/>
              </a:rPr>
              <a:t>f</a:t>
            </a:r>
            <a:endParaRPr sz="1400">
              <a:latin typeface="Verdana"/>
              <a:cs typeface="Verdana"/>
            </a:endParaRPr>
          </a:p>
          <a:p>
            <a:pPr marL="18415">
              <a:lnSpc>
                <a:spcPct val="100000"/>
              </a:lnSpc>
              <a:spcBef>
                <a:spcPts val="800"/>
              </a:spcBef>
            </a:pPr>
            <a:r>
              <a:rPr sz="1100" spc="-45" dirty="0">
                <a:solidFill>
                  <a:srgbClr val="4B4A4A"/>
                </a:solidFill>
                <a:latin typeface="Verdana"/>
                <a:cs typeface="Verdana"/>
              </a:rPr>
              <a:t>Dense</a:t>
            </a:r>
            <a:r>
              <a:rPr sz="1100" spc="-7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60" dirty="0">
                <a:solidFill>
                  <a:srgbClr val="4B4A4A"/>
                </a:solidFill>
                <a:latin typeface="Verdana"/>
                <a:cs typeface="Verdana"/>
              </a:rPr>
              <a:t>layer</a:t>
            </a:r>
            <a:r>
              <a:rPr sz="1100" spc="-6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40" dirty="0">
                <a:solidFill>
                  <a:srgbClr val="4B4A4A"/>
                </a:solidFill>
                <a:latin typeface="Verdana"/>
                <a:cs typeface="Verdana"/>
              </a:rPr>
              <a:t>with</a:t>
            </a:r>
            <a:r>
              <a:rPr sz="1100" spc="-6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114" dirty="0">
                <a:solidFill>
                  <a:srgbClr val="4B4A4A"/>
                </a:solidFill>
                <a:latin typeface="Verdana"/>
                <a:cs typeface="Verdana"/>
              </a:rPr>
              <a:t>128</a:t>
            </a:r>
            <a:r>
              <a:rPr sz="1100" spc="-6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55" dirty="0">
                <a:solidFill>
                  <a:srgbClr val="4B4A4A"/>
                </a:solidFill>
                <a:latin typeface="Verdana"/>
                <a:cs typeface="Verdana"/>
              </a:rPr>
              <a:t>neurons</a:t>
            </a:r>
            <a:r>
              <a:rPr sz="1100" spc="-7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45" dirty="0">
                <a:solidFill>
                  <a:srgbClr val="4B4A4A"/>
                </a:solidFill>
                <a:latin typeface="Verdana"/>
                <a:cs typeface="Verdana"/>
              </a:rPr>
              <a:t>using</a:t>
            </a:r>
            <a:r>
              <a:rPr sz="1100" spc="-6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35" dirty="0">
                <a:solidFill>
                  <a:srgbClr val="4B4A4A"/>
                </a:solidFill>
                <a:latin typeface="Verdana"/>
                <a:cs typeface="Verdana"/>
              </a:rPr>
              <a:t>ReLU</a:t>
            </a:r>
            <a:r>
              <a:rPr sz="1100" spc="-6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50" dirty="0">
                <a:solidFill>
                  <a:srgbClr val="4B4A4A"/>
                </a:solidFill>
                <a:latin typeface="Verdana"/>
                <a:cs typeface="Verdana"/>
              </a:rPr>
              <a:t>activation</a:t>
            </a:r>
            <a:r>
              <a:rPr sz="1100" spc="-6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35" dirty="0">
                <a:solidFill>
                  <a:srgbClr val="4B4A4A"/>
                </a:solidFill>
                <a:latin typeface="Verdana"/>
                <a:cs typeface="Verdana"/>
              </a:rPr>
              <a:t>for</a:t>
            </a:r>
            <a:r>
              <a:rPr sz="1100" spc="-6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55" dirty="0">
                <a:solidFill>
                  <a:srgbClr val="4B4A4A"/>
                </a:solidFill>
                <a:latin typeface="Verdana"/>
                <a:cs typeface="Verdana"/>
              </a:rPr>
              <a:t>pattern</a:t>
            </a:r>
            <a:r>
              <a:rPr sz="1100" spc="-7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4B4A4A"/>
                </a:solidFill>
                <a:latin typeface="Verdana"/>
                <a:cs typeface="Verdana"/>
              </a:rPr>
              <a:t>recognition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19"/>
              </a:spcBef>
            </a:pP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spc="-25" dirty="0">
                <a:solidFill>
                  <a:srgbClr val="4B4A4A"/>
                </a:solidFill>
                <a:latin typeface="Trebuchet MS"/>
                <a:cs typeface="Trebuchet MS"/>
              </a:rPr>
              <a:t>03</a:t>
            </a:r>
            <a:endParaRPr sz="1100">
              <a:latin typeface="Trebuchet MS"/>
              <a:cs typeface="Trebuchet MS"/>
            </a:endParaRPr>
          </a:p>
          <a:p>
            <a:pPr marL="18415">
              <a:lnSpc>
                <a:spcPct val="100000"/>
              </a:lnSpc>
              <a:spcBef>
                <a:spcPts val="1245"/>
              </a:spcBef>
            </a:pPr>
            <a:r>
              <a:rPr sz="1400" b="1" spc="-45" dirty="0">
                <a:solidFill>
                  <a:srgbClr val="4B4A4A"/>
                </a:solidFill>
                <a:latin typeface="Verdana"/>
                <a:cs typeface="Verdana"/>
              </a:rPr>
              <a:t>Hidden</a:t>
            </a:r>
            <a:r>
              <a:rPr sz="1400" b="1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400" b="1" spc="-90" dirty="0">
                <a:solidFill>
                  <a:srgbClr val="4B4A4A"/>
                </a:solidFill>
                <a:latin typeface="Verdana"/>
                <a:cs typeface="Verdana"/>
              </a:rPr>
              <a:t>Layer</a:t>
            </a:r>
            <a:r>
              <a:rPr sz="1400" b="1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400" b="1" spc="-50" dirty="0">
                <a:solidFill>
                  <a:srgbClr val="4B4A4A"/>
                </a:solidFill>
                <a:latin typeface="Verdana"/>
                <a:cs typeface="Verdana"/>
              </a:rPr>
              <a:t>2</a:t>
            </a:r>
            <a:endParaRPr sz="1400">
              <a:latin typeface="Verdana"/>
              <a:cs typeface="Verdana"/>
            </a:endParaRPr>
          </a:p>
          <a:p>
            <a:pPr marL="18415" marR="401320">
              <a:lnSpc>
                <a:spcPct val="137000"/>
              </a:lnSpc>
              <a:spcBef>
                <a:spcPts val="315"/>
              </a:spcBef>
            </a:pPr>
            <a:r>
              <a:rPr sz="1100" spc="-45" dirty="0">
                <a:solidFill>
                  <a:srgbClr val="4B4A4A"/>
                </a:solidFill>
                <a:latin typeface="Verdana"/>
                <a:cs typeface="Verdana"/>
              </a:rPr>
              <a:t>Dense</a:t>
            </a:r>
            <a:r>
              <a:rPr sz="1100" spc="-7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60" dirty="0">
                <a:solidFill>
                  <a:srgbClr val="4B4A4A"/>
                </a:solidFill>
                <a:latin typeface="Verdana"/>
                <a:cs typeface="Verdana"/>
              </a:rPr>
              <a:t>layer</a:t>
            </a:r>
            <a:r>
              <a:rPr sz="1100" spc="-7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40" dirty="0">
                <a:solidFill>
                  <a:srgbClr val="4B4A4A"/>
                </a:solidFill>
                <a:latin typeface="Verdana"/>
                <a:cs typeface="Verdana"/>
              </a:rPr>
              <a:t>with</a:t>
            </a:r>
            <a:r>
              <a:rPr sz="1100" spc="-7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4B4A4A"/>
                </a:solidFill>
                <a:latin typeface="Verdana"/>
                <a:cs typeface="Verdana"/>
              </a:rPr>
              <a:t>64</a:t>
            </a:r>
            <a:r>
              <a:rPr sz="1100" spc="-7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55" dirty="0">
                <a:solidFill>
                  <a:srgbClr val="4B4A4A"/>
                </a:solidFill>
                <a:latin typeface="Verdana"/>
                <a:cs typeface="Verdana"/>
              </a:rPr>
              <a:t>neurons</a:t>
            </a:r>
            <a:r>
              <a:rPr sz="1100" spc="-7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45" dirty="0">
                <a:solidFill>
                  <a:srgbClr val="4B4A4A"/>
                </a:solidFill>
                <a:latin typeface="Verdana"/>
                <a:cs typeface="Verdana"/>
              </a:rPr>
              <a:t>using</a:t>
            </a:r>
            <a:r>
              <a:rPr sz="1100" spc="-6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35" dirty="0">
                <a:solidFill>
                  <a:srgbClr val="4B4A4A"/>
                </a:solidFill>
                <a:latin typeface="Verdana"/>
                <a:cs typeface="Verdana"/>
              </a:rPr>
              <a:t>ReLU</a:t>
            </a:r>
            <a:r>
              <a:rPr sz="1100" spc="-7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50" dirty="0">
                <a:solidFill>
                  <a:srgbClr val="4B4A4A"/>
                </a:solidFill>
                <a:latin typeface="Verdana"/>
                <a:cs typeface="Verdana"/>
              </a:rPr>
              <a:t>activation</a:t>
            </a:r>
            <a:r>
              <a:rPr sz="1100" spc="-7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35" dirty="0">
                <a:solidFill>
                  <a:srgbClr val="4B4A4A"/>
                </a:solidFill>
                <a:latin typeface="Verdana"/>
                <a:cs typeface="Verdana"/>
              </a:rPr>
              <a:t>for</a:t>
            </a:r>
            <a:r>
              <a:rPr sz="1100" spc="-7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50" dirty="0">
                <a:solidFill>
                  <a:srgbClr val="4B4A4A"/>
                </a:solidFill>
                <a:latin typeface="Verdana"/>
                <a:cs typeface="Verdana"/>
              </a:rPr>
              <a:t>deeper</a:t>
            </a:r>
            <a:r>
              <a:rPr sz="1100" spc="-7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4B4A4A"/>
                </a:solidFill>
                <a:latin typeface="Verdana"/>
                <a:cs typeface="Verdana"/>
              </a:rPr>
              <a:t>feature extraction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19"/>
              </a:spcBef>
            </a:pP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100" spc="-25" dirty="0">
                <a:solidFill>
                  <a:srgbClr val="4B4A4A"/>
                </a:solidFill>
                <a:latin typeface="Trebuchet MS"/>
                <a:cs typeface="Trebuchet MS"/>
              </a:rPr>
              <a:t>0h</a:t>
            </a:r>
            <a:endParaRPr sz="1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Trebuchet MS"/>
              <a:cs typeface="Trebuchet MS"/>
            </a:endParaRPr>
          </a:p>
          <a:p>
            <a:pPr marL="18415">
              <a:lnSpc>
                <a:spcPct val="100000"/>
              </a:lnSpc>
            </a:pPr>
            <a:r>
              <a:rPr sz="1400" b="1" spc="-80" dirty="0">
                <a:solidFill>
                  <a:srgbClr val="4B4A4A"/>
                </a:solidFill>
                <a:latin typeface="Verdana"/>
                <a:cs typeface="Verdana"/>
              </a:rPr>
              <a:t>Output </a:t>
            </a:r>
            <a:r>
              <a:rPr sz="1400" b="1" spc="-10" dirty="0">
                <a:solidFill>
                  <a:srgbClr val="4B4A4A"/>
                </a:solidFill>
                <a:latin typeface="Verdana"/>
                <a:cs typeface="Verdana"/>
              </a:rPr>
              <a:t>Layer</a:t>
            </a:r>
            <a:endParaRPr sz="1400">
              <a:latin typeface="Verdana"/>
              <a:cs typeface="Verdana"/>
            </a:endParaRPr>
          </a:p>
          <a:p>
            <a:pPr marL="18415">
              <a:lnSpc>
                <a:spcPct val="100000"/>
              </a:lnSpc>
              <a:spcBef>
                <a:spcPts val="800"/>
              </a:spcBef>
            </a:pPr>
            <a:r>
              <a:rPr sz="1100" spc="-45" dirty="0">
                <a:solidFill>
                  <a:srgbClr val="4B4A4A"/>
                </a:solidFill>
                <a:latin typeface="Verdana"/>
                <a:cs typeface="Verdana"/>
              </a:rPr>
              <a:t>Dense</a:t>
            </a:r>
            <a:r>
              <a:rPr sz="1100" spc="-7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60" dirty="0">
                <a:solidFill>
                  <a:srgbClr val="4B4A4A"/>
                </a:solidFill>
                <a:latin typeface="Verdana"/>
                <a:cs typeface="Verdana"/>
              </a:rPr>
              <a:t>layer</a:t>
            </a:r>
            <a:r>
              <a:rPr sz="1100" spc="-7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40" dirty="0">
                <a:solidFill>
                  <a:srgbClr val="4B4A4A"/>
                </a:solidFill>
                <a:latin typeface="Verdana"/>
                <a:cs typeface="Verdana"/>
              </a:rPr>
              <a:t>with</a:t>
            </a:r>
            <a:r>
              <a:rPr sz="1100" spc="-6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130" dirty="0">
                <a:solidFill>
                  <a:srgbClr val="4B4A4A"/>
                </a:solidFill>
                <a:latin typeface="Verdana"/>
                <a:cs typeface="Verdana"/>
              </a:rPr>
              <a:t>10</a:t>
            </a:r>
            <a:r>
              <a:rPr sz="1100" spc="-7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55" dirty="0">
                <a:solidFill>
                  <a:srgbClr val="4B4A4A"/>
                </a:solidFill>
                <a:latin typeface="Verdana"/>
                <a:cs typeface="Verdana"/>
              </a:rPr>
              <a:t>neurons</a:t>
            </a:r>
            <a:r>
              <a:rPr sz="1100" spc="-6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45" dirty="0">
                <a:solidFill>
                  <a:srgbClr val="4B4A4A"/>
                </a:solidFill>
                <a:latin typeface="Verdana"/>
                <a:cs typeface="Verdana"/>
              </a:rPr>
              <a:t>using</a:t>
            </a:r>
            <a:r>
              <a:rPr sz="1100" spc="-7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45" dirty="0">
                <a:solidFill>
                  <a:srgbClr val="4B4A4A"/>
                </a:solidFill>
                <a:latin typeface="Verdana"/>
                <a:cs typeface="Verdana"/>
              </a:rPr>
              <a:t>Softmax</a:t>
            </a:r>
            <a:r>
              <a:rPr sz="1100" spc="-7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50" dirty="0">
                <a:solidFill>
                  <a:srgbClr val="4B4A4A"/>
                </a:solidFill>
                <a:latin typeface="Verdana"/>
                <a:cs typeface="Verdana"/>
              </a:rPr>
              <a:t>activation</a:t>
            </a:r>
            <a:r>
              <a:rPr sz="1100" spc="-6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35" dirty="0">
                <a:solidFill>
                  <a:srgbClr val="4B4A4A"/>
                </a:solidFill>
                <a:latin typeface="Verdana"/>
                <a:cs typeface="Verdana"/>
              </a:rPr>
              <a:t>for</a:t>
            </a:r>
            <a:r>
              <a:rPr sz="1100" spc="-7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4B4A4A"/>
                </a:solidFill>
                <a:latin typeface="Verdana"/>
                <a:cs typeface="Verdana"/>
              </a:rPr>
              <a:t>class</a:t>
            </a:r>
            <a:r>
              <a:rPr sz="1100" spc="-6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4B4A4A"/>
                </a:solidFill>
                <a:latin typeface="Verdana"/>
                <a:cs typeface="Verdana"/>
              </a:rPr>
              <a:t>probabilities</a:t>
            </a:r>
            <a:endParaRPr sz="1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11254740" cy="6433820"/>
          </a:xfrm>
          <a:custGeom>
            <a:avLst/>
            <a:gdLst/>
            <a:ahLst/>
            <a:cxnLst/>
            <a:rect l="l" t="t" r="r" b="b"/>
            <a:pathLst>
              <a:path w="11254740" h="6433820">
                <a:moveTo>
                  <a:pt x="11254236" y="0"/>
                </a:moveTo>
                <a:lnTo>
                  <a:pt x="0" y="0"/>
                </a:lnTo>
                <a:lnTo>
                  <a:pt x="0" y="6433671"/>
                </a:lnTo>
                <a:lnTo>
                  <a:pt x="11254236" y="6433671"/>
                </a:lnTo>
                <a:lnTo>
                  <a:pt x="11254236" y="0"/>
                </a:lnTo>
                <a:close/>
              </a:path>
            </a:pathLst>
          </a:custGeom>
          <a:solidFill>
            <a:srgbClr val="E5F9F2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1212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120"/>
              </a:spcBef>
            </a:pPr>
            <a:r>
              <a:rPr sz="3300" spc="-120" dirty="0"/>
              <a:t>Model</a:t>
            </a:r>
            <a:r>
              <a:rPr sz="3300" spc="-265" dirty="0"/>
              <a:t> </a:t>
            </a:r>
            <a:r>
              <a:rPr sz="3300" spc="-120" dirty="0"/>
              <a:t>Compilation</a:t>
            </a:r>
            <a:r>
              <a:rPr sz="3300" spc="-260" dirty="0"/>
              <a:t> </a:t>
            </a:r>
            <a:r>
              <a:rPr sz="3300" spc="-204" dirty="0"/>
              <a:t>&amp;</a:t>
            </a:r>
            <a:r>
              <a:rPr sz="3300" spc="-265" dirty="0"/>
              <a:t> </a:t>
            </a:r>
            <a:r>
              <a:rPr sz="3300" spc="-70" dirty="0"/>
              <a:t>Training</a:t>
            </a:r>
            <a:endParaRPr sz="3300"/>
          </a:p>
        </p:txBody>
      </p:sp>
      <p:sp>
        <p:nvSpPr>
          <p:cNvPr id="4" name="object 4"/>
          <p:cNvSpPr/>
          <p:nvPr/>
        </p:nvSpPr>
        <p:spPr>
          <a:xfrm>
            <a:off x="618983" y="2897965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31866" y="0"/>
                </a:moveTo>
                <a:lnTo>
                  <a:pt x="24404" y="0"/>
                </a:lnTo>
                <a:lnTo>
                  <a:pt x="20814" y="712"/>
                </a:lnTo>
                <a:lnTo>
                  <a:pt x="0" y="24409"/>
                </a:lnTo>
                <a:lnTo>
                  <a:pt x="0" y="31861"/>
                </a:lnTo>
                <a:lnTo>
                  <a:pt x="24404" y="56271"/>
                </a:lnTo>
                <a:lnTo>
                  <a:pt x="31866" y="56271"/>
                </a:lnTo>
                <a:lnTo>
                  <a:pt x="56271" y="31861"/>
                </a:lnTo>
                <a:lnTo>
                  <a:pt x="56271" y="28135"/>
                </a:lnTo>
                <a:lnTo>
                  <a:pt x="56271" y="24409"/>
                </a:lnTo>
                <a:lnTo>
                  <a:pt x="35457" y="712"/>
                </a:lnTo>
                <a:lnTo>
                  <a:pt x="31866" y="0"/>
                </a:lnTo>
                <a:close/>
              </a:path>
            </a:pathLst>
          </a:custGeom>
          <a:solidFill>
            <a:srgbClr val="4B4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18983" y="3226213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31866" y="0"/>
                </a:moveTo>
                <a:lnTo>
                  <a:pt x="24404" y="0"/>
                </a:lnTo>
                <a:lnTo>
                  <a:pt x="20814" y="712"/>
                </a:lnTo>
                <a:lnTo>
                  <a:pt x="0" y="24409"/>
                </a:lnTo>
                <a:lnTo>
                  <a:pt x="0" y="31861"/>
                </a:lnTo>
                <a:lnTo>
                  <a:pt x="24404" y="56271"/>
                </a:lnTo>
                <a:lnTo>
                  <a:pt x="31866" y="56271"/>
                </a:lnTo>
                <a:lnTo>
                  <a:pt x="56271" y="31861"/>
                </a:lnTo>
                <a:lnTo>
                  <a:pt x="56271" y="28135"/>
                </a:lnTo>
                <a:lnTo>
                  <a:pt x="56271" y="24409"/>
                </a:lnTo>
                <a:lnTo>
                  <a:pt x="35457" y="712"/>
                </a:lnTo>
                <a:lnTo>
                  <a:pt x="31866" y="0"/>
                </a:lnTo>
                <a:close/>
              </a:path>
            </a:pathLst>
          </a:custGeom>
          <a:solidFill>
            <a:srgbClr val="4B4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18983" y="3554462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31866" y="0"/>
                </a:moveTo>
                <a:lnTo>
                  <a:pt x="24404" y="0"/>
                </a:lnTo>
                <a:lnTo>
                  <a:pt x="20814" y="712"/>
                </a:lnTo>
                <a:lnTo>
                  <a:pt x="0" y="24409"/>
                </a:lnTo>
                <a:lnTo>
                  <a:pt x="0" y="31861"/>
                </a:lnTo>
                <a:lnTo>
                  <a:pt x="24404" y="56271"/>
                </a:lnTo>
                <a:lnTo>
                  <a:pt x="31866" y="56271"/>
                </a:lnTo>
                <a:lnTo>
                  <a:pt x="56271" y="31861"/>
                </a:lnTo>
                <a:lnTo>
                  <a:pt x="56271" y="28135"/>
                </a:lnTo>
                <a:lnTo>
                  <a:pt x="56271" y="24409"/>
                </a:lnTo>
                <a:lnTo>
                  <a:pt x="35457" y="712"/>
                </a:lnTo>
                <a:lnTo>
                  <a:pt x="31866" y="0"/>
                </a:lnTo>
                <a:close/>
              </a:path>
            </a:pathLst>
          </a:custGeom>
          <a:solidFill>
            <a:srgbClr val="4B4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8147" y="2364757"/>
            <a:ext cx="6148070" cy="24650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50" b="1" spc="-70" dirty="0">
                <a:solidFill>
                  <a:srgbClr val="006646"/>
                </a:solidFill>
                <a:latin typeface="Verdana"/>
                <a:cs typeface="Verdana"/>
              </a:rPr>
              <a:t>Compilation</a:t>
            </a:r>
            <a:r>
              <a:rPr sz="1650" b="1" spc="-45" dirty="0">
                <a:solidFill>
                  <a:srgbClr val="006646"/>
                </a:solidFill>
                <a:latin typeface="Verdana"/>
                <a:cs typeface="Verdana"/>
              </a:rPr>
              <a:t> </a:t>
            </a:r>
            <a:r>
              <a:rPr sz="1650" b="1" spc="-10" dirty="0">
                <a:solidFill>
                  <a:srgbClr val="006646"/>
                </a:solidFill>
                <a:latin typeface="Verdana"/>
                <a:cs typeface="Verdana"/>
              </a:rPr>
              <a:t>Configuration</a:t>
            </a:r>
            <a:endParaRPr sz="1650">
              <a:latin typeface="Verdana"/>
              <a:cs typeface="Verdana"/>
            </a:endParaRPr>
          </a:p>
          <a:p>
            <a:pPr marL="282575" marR="2122805" algn="just">
              <a:lnSpc>
                <a:spcPct val="165700"/>
              </a:lnSpc>
              <a:spcBef>
                <a:spcPts val="445"/>
              </a:spcBef>
            </a:pPr>
            <a:r>
              <a:rPr sz="1300" b="1" dirty="0">
                <a:solidFill>
                  <a:srgbClr val="4B4A4A"/>
                </a:solidFill>
                <a:latin typeface="Trebuchet MS"/>
                <a:cs typeface="Trebuchet MS"/>
              </a:rPr>
              <a:t>Optimizer:</a:t>
            </a:r>
            <a:r>
              <a:rPr sz="1300" b="1" spc="95" dirty="0">
                <a:solidFill>
                  <a:srgbClr val="4B4A4A"/>
                </a:solidFill>
                <a:latin typeface="Trebuchet MS"/>
                <a:cs typeface="Trebuchet MS"/>
              </a:rPr>
              <a:t> </a:t>
            </a:r>
            <a:r>
              <a:rPr sz="1300" spc="-80" dirty="0">
                <a:solidFill>
                  <a:srgbClr val="4B4A4A"/>
                </a:solidFill>
                <a:latin typeface="Verdana"/>
                <a:cs typeface="Verdana"/>
              </a:rPr>
              <a:t>Adam</a:t>
            </a:r>
            <a:r>
              <a:rPr sz="1300" spc="3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00" spc="-90" dirty="0">
                <a:solidFill>
                  <a:srgbClr val="4B4A4A"/>
                </a:solidFill>
                <a:latin typeface="Verdana"/>
                <a:cs typeface="Verdana"/>
              </a:rPr>
              <a:t>(adaptive</a:t>
            </a:r>
            <a:r>
              <a:rPr sz="1300" spc="4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00" spc="-95" dirty="0">
                <a:solidFill>
                  <a:srgbClr val="4B4A4A"/>
                </a:solidFill>
                <a:latin typeface="Verdana"/>
                <a:cs typeface="Verdana"/>
              </a:rPr>
              <a:t>moment</a:t>
            </a:r>
            <a:r>
              <a:rPr sz="1300" spc="3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00" spc="-30" dirty="0">
                <a:solidFill>
                  <a:srgbClr val="4B4A4A"/>
                </a:solidFill>
                <a:latin typeface="Verdana"/>
                <a:cs typeface="Verdana"/>
              </a:rPr>
              <a:t>estimation) </a:t>
            </a:r>
            <a:r>
              <a:rPr sz="1300" b="1" spc="110" dirty="0">
                <a:solidFill>
                  <a:srgbClr val="4B4A4A"/>
                </a:solidFill>
                <a:latin typeface="Trebuchet MS"/>
                <a:cs typeface="Trebuchet MS"/>
              </a:rPr>
              <a:t>Loss</a:t>
            </a:r>
            <a:r>
              <a:rPr sz="1300" b="1" spc="15" dirty="0">
                <a:solidFill>
                  <a:srgbClr val="4B4A4A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4B4A4A"/>
                </a:solidFill>
                <a:latin typeface="Trebuchet MS"/>
                <a:cs typeface="Trebuchet MS"/>
              </a:rPr>
              <a:t>Function:</a:t>
            </a:r>
            <a:r>
              <a:rPr sz="1300" b="1" spc="60" dirty="0">
                <a:solidFill>
                  <a:srgbClr val="4B4A4A"/>
                </a:solidFill>
                <a:latin typeface="Trebuchet MS"/>
                <a:cs typeface="Trebuchet MS"/>
              </a:rPr>
              <a:t> </a:t>
            </a:r>
            <a:r>
              <a:rPr sz="1300" spc="-60" dirty="0">
                <a:solidFill>
                  <a:srgbClr val="4B4A4A"/>
                </a:solidFill>
                <a:latin typeface="Verdana"/>
                <a:cs typeface="Verdana"/>
              </a:rPr>
              <a:t>Sparse</a:t>
            </a:r>
            <a:r>
              <a:rPr sz="1300" spc="-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00" spc="-40" dirty="0">
                <a:solidFill>
                  <a:srgbClr val="4B4A4A"/>
                </a:solidFill>
                <a:latin typeface="Verdana"/>
                <a:cs typeface="Verdana"/>
              </a:rPr>
              <a:t>categorical</a:t>
            </a:r>
            <a:r>
              <a:rPr sz="1300" spc="-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00" spc="-40" dirty="0">
                <a:solidFill>
                  <a:srgbClr val="4B4A4A"/>
                </a:solidFill>
                <a:latin typeface="Verdana"/>
                <a:cs typeface="Verdana"/>
              </a:rPr>
              <a:t>crossentropy </a:t>
            </a:r>
            <a:r>
              <a:rPr sz="1300" b="1" spc="65" dirty="0">
                <a:solidFill>
                  <a:srgbClr val="4B4A4A"/>
                </a:solidFill>
                <a:latin typeface="Trebuchet MS"/>
                <a:cs typeface="Trebuchet MS"/>
              </a:rPr>
              <a:t>Metrics:</a:t>
            </a:r>
            <a:r>
              <a:rPr sz="1300" b="1" spc="-35" dirty="0">
                <a:solidFill>
                  <a:srgbClr val="4B4A4A"/>
                </a:solidFill>
                <a:latin typeface="Trebuchet MS"/>
                <a:cs typeface="Trebuchet MS"/>
              </a:rPr>
              <a:t> </a:t>
            </a:r>
            <a:r>
              <a:rPr sz="1300" spc="-35" dirty="0">
                <a:solidFill>
                  <a:srgbClr val="4B4A4A"/>
                </a:solidFill>
                <a:latin typeface="Verdana"/>
                <a:cs typeface="Verdana"/>
              </a:rPr>
              <a:t>Accuracy</a:t>
            </a:r>
            <a:r>
              <a:rPr sz="130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4B4A4A"/>
                </a:solidFill>
                <a:latin typeface="Verdana"/>
                <a:cs typeface="Verdana"/>
              </a:rPr>
              <a:t>tracking</a:t>
            </a:r>
            <a:endParaRPr sz="1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1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50" b="1" spc="-60" dirty="0">
                <a:solidFill>
                  <a:srgbClr val="006646"/>
                </a:solidFill>
                <a:latin typeface="Verdana"/>
                <a:cs typeface="Verdana"/>
              </a:rPr>
              <a:t>Training</a:t>
            </a:r>
            <a:r>
              <a:rPr sz="1650" b="1" spc="-100" dirty="0">
                <a:solidFill>
                  <a:srgbClr val="006646"/>
                </a:solidFill>
                <a:latin typeface="Verdana"/>
                <a:cs typeface="Verdana"/>
              </a:rPr>
              <a:t> </a:t>
            </a:r>
            <a:r>
              <a:rPr sz="1650" b="1" spc="-10" dirty="0">
                <a:solidFill>
                  <a:srgbClr val="006646"/>
                </a:solidFill>
                <a:latin typeface="Verdana"/>
                <a:cs typeface="Verdana"/>
              </a:rPr>
              <a:t>Parameters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7300"/>
              </a:lnSpc>
              <a:spcBef>
                <a:spcPts val="890"/>
              </a:spcBef>
            </a:pPr>
            <a:r>
              <a:rPr sz="1300" spc="-25" dirty="0">
                <a:solidFill>
                  <a:srgbClr val="4B4A4A"/>
                </a:solidFill>
                <a:latin typeface="Verdana"/>
                <a:cs typeface="Verdana"/>
              </a:rPr>
              <a:t>Model</a:t>
            </a:r>
            <a:r>
              <a:rPr sz="130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00" spc="-55" dirty="0">
                <a:solidFill>
                  <a:srgbClr val="4B4A4A"/>
                </a:solidFill>
                <a:latin typeface="Verdana"/>
                <a:cs typeface="Verdana"/>
              </a:rPr>
              <a:t>trained</a:t>
            </a:r>
            <a:r>
              <a:rPr sz="130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00" spc="-75" dirty="0">
                <a:solidFill>
                  <a:srgbClr val="4B4A4A"/>
                </a:solidFill>
                <a:latin typeface="Verdana"/>
                <a:cs typeface="Verdana"/>
              </a:rPr>
              <a:t>over</a:t>
            </a:r>
            <a:r>
              <a:rPr sz="130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00" b="1" spc="120" dirty="0">
                <a:solidFill>
                  <a:srgbClr val="4B4A4A"/>
                </a:solidFill>
                <a:latin typeface="Trebuchet MS"/>
                <a:cs typeface="Trebuchet MS"/>
              </a:rPr>
              <a:t>5</a:t>
            </a:r>
            <a:r>
              <a:rPr sz="1300" b="1" spc="-55" dirty="0">
                <a:solidFill>
                  <a:srgbClr val="4B4A4A"/>
                </a:solidFill>
                <a:latin typeface="Trebuchet MS"/>
                <a:cs typeface="Trebuchet MS"/>
              </a:rPr>
              <a:t> </a:t>
            </a:r>
            <a:r>
              <a:rPr sz="1300" b="1" spc="75" dirty="0">
                <a:solidFill>
                  <a:srgbClr val="4B4A4A"/>
                </a:solidFill>
                <a:latin typeface="Trebuchet MS"/>
                <a:cs typeface="Trebuchet MS"/>
              </a:rPr>
              <a:t>epochs</a:t>
            </a:r>
            <a:r>
              <a:rPr sz="1300" b="1" spc="-30" dirty="0">
                <a:solidFill>
                  <a:srgbClr val="4B4A4A"/>
                </a:solidFill>
                <a:latin typeface="Trebuchet MS"/>
                <a:cs typeface="Trebuchet MS"/>
              </a:rPr>
              <a:t> </a:t>
            </a:r>
            <a:r>
              <a:rPr sz="1300" spc="-45" dirty="0">
                <a:solidFill>
                  <a:srgbClr val="4B4A4A"/>
                </a:solidFill>
                <a:latin typeface="Verdana"/>
                <a:cs typeface="Verdana"/>
              </a:rPr>
              <a:t>with</a:t>
            </a:r>
            <a:r>
              <a:rPr sz="130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00" spc="-20" dirty="0">
                <a:solidFill>
                  <a:srgbClr val="4B4A4A"/>
                </a:solidFill>
                <a:latin typeface="Verdana"/>
                <a:cs typeface="Verdana"/>
              </a:rPr>
              <a:t>60,000</a:t>
            </a:r>
            <a:r>
              <a:rPr sz="130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00" spc="-55" dirty="0">
                <a:solidFill>
                  <a:srgbClr val="4B4A4A"/>
                </a:solidFill>
                <a:latin typeface="Verdana"/>
                <a:cs typeface="Verdana"/>
              </a:rPr>
              <a:t>training</a:t>
            </a:r>
            <a:r>
              <a:rPr sz="130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00" spc="-75" dirty="0">
                <a:solidFill>
                  <a:srgbClr val="4B4A4A"/>
                </a:solidFill>
                <a:latin typeface="Verdana"/>
                <a:cs typeface="Verdana"/>
              </a:rPr>
              <a:t>images.</a:t>
            </a:r>
            <a:r>
              <a:rPr sz="130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00" spc="-80" dirty="0">
                <a:solidFill>
                  <a:srgbClr val="4B4A4A"/>
                </a:solidFill>
                <a:latin typeface="Verdana"/>
                <a:cs typeface="Verdana"/>
              </a:rPr>
              <a:t>The</a:t>
            </a:r>
            <a:r>
              <a:rPr sz="130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00" spc="-55" dirty="0">
                <a:solidFill>
                  <a:srgbClr val="4B4A4A"/>
                </a:solidFill>
                <a:latin typeface="Verdana"/>
                <a:cs typeface="Verdana"/>
              </a:rPr>
              <a:t>training</a:t>
            </a:r>
            <a:r>
              <a:rPr sz="130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4B4A4A"/>
                </a:solidFill>
                <a:latin typeface="Verdana"/>
                <a:cs typeface="Verdana"/>
              </a:rPr>
              <a:t>showed </a:t>
            </a:r>
            <a:r>
              <a:rPr sz="1300" spc="-65" dirty="0">
                <a:solidFill>
                  <a:srgbClr val="4B4A4A"/>
                </a:solidFill>
                <a:latin typeface="Verdana"/>
                <a:cs typeface="Verdana"/>
              </a:rPr>
              <a:t>rapid</a:t>
            </a:r>
            <a:r>
              <a:rPr sz="1300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00" spc="-55" dirty="0">
                <a:solidFill>
                  <a:srgbClr val="4B4A4A"/>
                </a:solidFill>
                <a:latin typeface="Verdana"/>
                <a:cs typeface="Verdana"/>
              </a:rPr>
              <a:t>convergence</a:t>
            </a:r>
            <a:r>
              <a:rPr sz="1300" spc="-8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00" spc="-45" dirty="0">
                <a:solidFill>
                  <a:srgbClr val="4B4A4A"/>
                </a:solidFill>
                <a:latin typeface="Verdana"/>
                <a:cs typeface="Verdana"/>
              </a:rPr>
              <a:t>with</a:t>
            </a:r>
            <a:r>
              <a:rPr sz="1300" spc="-8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00" spc="-20" dirty="0">
                <a:solidFill>
                  <a:srgbClr val="4B4A4A"/>
                </a:solidFill>
                <a:latin typeface="Verdana"/>
                <a:cs typeface="Verdana"/>
              </a:rPr>
              <a:t>loss</a:t>
            </a:r>
            <a:r>
              <a:rPr sz="1300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00" spc="-45" dirty="0">
                <a:solidFill>
                  <a:srgbClr val="4B4A4A"/>
                </a:solidFill>
                <a:latin typeface="Verdana"/>
                <a:cs typeface="Verdana"/>
              </a:rPr>
              <a:t>decreasing</a:t>
            </a:r>
            <a:r>
              <a:rPr sz="1300" spc="-8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00" spc="-65" dirty="0">
                <a:solidFill>
                  <a:srgbClr val="4B4A4A"/>
                </a:solidFill>
                <a:latin typeface="Verdana"/>
                <a:cs typeface="Verdana"/>
              </a:rPr>
              <a:t>from</a:t>
            </a:r>
            <a:r>
              <a:rPr sz="1300" spc="-8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00" spc="-50" dirty="0">
                <a:solidFill>
                  <a:srgbClr val="4B4A4A"/>
                </a:solidFill>
                <a:latin typeface="Verdana"/>
                <a:cs typeface="Verdana"/>
              </a:rPr>
              <a:t>0.2435</a:t>
            </a:r>
            <a:r>
              <a:rPr sz="1300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00" spc="-35" dirty="0">
                <a:solidFill>
                  <a:srgbClr val="4B4A4A"/>
                </a:solidFill>
                <a:latin typeface="Verdana"/>
                <a:cs typeface="Verdana"/>
              </a:rPr>
              <a:t>to</a:t>
            </a:r>
            <a:r>
              <a:rPr sz="1300" spc="-8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4B4A4A"/>
                </a:solidFill>
                <a:latin typeface="Verdana"/>
                <a:cs typeface="Verdana"/>
              </a:rPr>
              <a:t>0.0379.</a:t>
            </a:r>
            <a:endParaRPr sz="1300">
              <a:latin typeface="Verdana"/>
              <a:cs typeface="Verdan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18417" y="1434914"/>
            <a:ext cx="3254349" cy="43422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9488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125"/>
              </a:spcBef>
            </a:pPr>
            <a:r>
              <a:rPr spc="-114" dirty="0"/>
              <a:t>Training</a:t>
            </a:r>
            <a:r>
              <a:rPr spc="-235" dirty="0"/>
              <a:t> </a:t>
            </a:r>
            <a:r>
              <a:rPr spc="-155" dirty="0"/>
              <a:t>Performance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7142" y="1585317"/>
            <a:ext cx="2582465" cy="25824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63242" y="2625725"/>
            <a:ext cx="134048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350" b="1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3350" b="1" spc="-225" dirty="0">
                <a:solidFill>
                  <a:srgbClr val="4B4A4A"/>
                </a:solidFill>
                <a:latin typeface="Verdana"/>
                <a:cs typeface="Verdana"/>
              </a:rPr>
              <a:t>S.S%</a:t>
            </a:r>
            <a:endParaRPr sz="335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8834" y="4234259"/>
            <a:ext cx="2329815" cy="756285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10"/>
              </a:spcBef>
            </a:pPr>
            <a:r>
              <a:rPr sz="1650" b="1" spc="-50" dirty="0">
                <a:solidFill>
                  <a:srgbClr val="4B4A4A"/>
                </a:solidFill>
                <a:latin typeface="Verdana"/>
                <a:cs typeface="Verdana"/>
              </a:rPr>
              <a:t>Training</a:t>
            </a:r>
            <a:r>
              <a:rPr sz="1650" b="1" spc="-8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650" b="1" spc="-10" dirty="0">
                <a:solidFill>
                  <a:srgbClr val="4B4A4A"/>
                </a:solidFill>
                <a:latin typeface="Verdana"/>
                <a:cs typeface="Verdana"/>
              </a:rPr>
              <a:t>Ẩccnracy</a:t>
            </a:r>
            <a:endParaRPr sz="16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945"/>
              </a:spcBef>
            </a:pP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Final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accuracy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on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training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4B4A4A"/>
                </a:solidFill>
                <a:latin typeface="Verdana"/>
                <a:cs typeface="Verdana"/>
              </a:rPr>
              <a:t>set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23767" y="1585317"/>
            <a:ext cx="2582465" cy="258246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044630" y="2625725"/>
            <a:ext cx="134048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350" b="1" spc="-114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3350" b="1" spc="-280" dirty="0">
                <a:solidFill>
                  <a:srgbClr val="4B4A4A"/>
                </a:solidFill>
                <a:latin typeface="Verdana"/>
                <a:cs typeface="Verdana"/>
              </a:rPr>
              <a:t>7.5%</a:t>
            </a:r>
            <a:endParaRPr sz="335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38469" y="4234259"/>
            <a:ext cx="2353310" cy="756285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10"/>
              </a:spcBef>
            </a:pPr>
            <a:r>
              <a:rPr sz="1650" b="1" spc="-145" dirty="0">
                <a:solidFill>
                  <a:srgbClr val="4B4A4A"/>
                </a:solidFill>
                <a:latin typeface="Verdana"/>
                <a:cs typeface="Verdana"/>
              </a:rPr>
              <a:t>Tcs”</a:t>
            </a:r>
            <a:r>
              <a:rPr sz="1650" b="1" spc="-114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650" b="1" spc="-10" dirty="0">
                <a:solidFill>
                  <a:srgbClr val="4B4A4A"/>
                </a:solidFill>
                <a:latin typeface="Verdana"/>
                <a:cs typeface="Verdana"/>
              </a:rPr>
              <a:t>Ẩccnracy</a:t>
            </a:r>
            <a:endParaRPr sz="16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945"/>
              </a:spcBef>
            </a:pP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Accuracy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on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unseen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4B4A4A"/>
                </a:solidFill>
                <a:latin typeface="Verdana"/>
                <a:cs typeface="Verdana"/>
              </a:rPr>
              <a:t>test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4B4A4A"/>
                </a:solidFill>
                <a:latin typeface="Verdana"/>
                <a:cs typeface="Verdana"/>
              </a:rPr>
              <a:t>data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09917" y="1585317"/>
            <a:ext cx="2582465" cy="258246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480628" y="2625725"/>
            <a:ext cx="143129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350" b="1" spc="-355" dirty="0">
                <a:solidFill>
                  <a:srgbClr val="4B4A4A"/>
                </a:solidFill>
                <a:latin typeface="Verdana"/>
                <a:cs typeface="Verdana"/>
              </a:rPr>
              <a:t>0.037 </a:t>
            </a:r>
            <a:endParaRPr sz="335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51704" y="4234259"/>
            <a:ext cx="2289810" cy="756285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10"/>
              </a:spcBef>
            </a:pPr>
            <a:r>
              <a:rPr sz="1650" b="1" spc="-50" dirty="0">
                <a:solidFill>
                  <a:srgbClr val="4B4A4A"/>
                </a:solidFill>
                <a:latin typeface="Verdana"/>
                <a:cs typeface="Verdana"/>
              </a:rPr>
              <a:t>Training</a:t>
            </a:r>
            <a:r>
              <a:rPr sz="1650" b="1" spc="-8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650" b="1" spc="-305" dirty="0">
                <a:solidFill>
                  <a:srgbClr val="4B4A4A"/>
                </a:solidFill>
                <a:latin typeface="Verdana"/>
                <a:cs typeface="Verdana"/>
              </a:rPr>
              <a:t>Woss</a:t>
            </a:r>
            <a:endParaRPr sz="16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945"/>
              </a:spcBef>
            </a:pP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Final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4B4A4A"/>
                </a:solidFill>
                <a:latin typeface="Verdana"/>
                <a:cs typeface="Verdana"/>
              </a:rPr>
              <a:t>loss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value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after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4B4A4A"/>
                </a:solidFill>
                <a:latin typeface="Verdana"/>
                <a:cs typeface="Verdana"/>
              </a:rPr>
              <a:t>training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7381" y="5155564"/>
            <a:ext cx="9881235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The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model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demonstrated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excellent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convergence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with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healthy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4B4A4A"/>
                </a:solidFill>
                <a:latin typeface="Verdana"/>
                <a:cs typeface="Verdana"/>
              </a:rPr>
              <a:t>loss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reduction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and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consistent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accuracy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improvement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4B4A4A"/>
                </a:solidFill>
                <a:latin typeface="Verdana"/>
                <a:cs typeface="Verdana"/>
              </a:rPr>
              <a:t>across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4B4A4A"/>
                </a:solidFill>
                <a:latin typeface="Verdana"/>
                <a:cs typeface="Verdana"/>
              </a:rPr>
              <a:t>all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4B4A4A"/>
                </a:solidFill>
                <a:latin typeface="Verdana"/>
                <a:cs typeface="Verdana"/>
              </a:rPr>
              <a:t>5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epochs.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5213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125"/>
              </a:spcBef>
            </a:pPr>
            <a:r>
              <a:rPr spc="-125" dirty="0"/>
              <a:t>Model</a:t>
            </a:r>
            <a:r>
              <a:rPr spc="-240" dirty="0"/>
              <a:t> </a:t>
            </a:r>
            <a:r>
              <a:rPr spc="-165" dirty="0"/>
              <a:t>Evaluation</a:t>
            </a:r>
            <a:r>
              <a:rPr spc="-240" dirty="0"/>
              <a:t> </a:t>
            </a:r>
            <a:r>
              <a:rPr spc="-165" dirty="0"/>
              <a:t>Results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1800225"/>
            <a:ext cx="6505574" cy="36290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518006" y="1725612"/>
            <a:ext cx="3286125" cy="37604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75" dirty="0">
                <a:solidFill>
                  <a:srgbClr val="006646"/>
                </a:solidFill>
                <a:latin typeface="Verdana"/>
                <a:cs typeface="Verdana"/>
              </a:rPr>
              <a:t>Evaluation</a:t>
            </a:r>
            <a:r>
              <a:rPr sz="1650" b="1" spc="-60" dirty="0">
                <a:solidFill>
                  <a:srgbClr val="006646"/>
                </a:solidFill>
                <a:latin typeface="Verdana"/>
                <a:cs typeface="Verdana"/>
              </a:rPr>
              <a:t> </a:t>
            </a:r>
            <a:r>
              <a:rPr sz="1650" b="1" spc="-10" dirty="0">
                <a:solidFill>
                  <a:srgbClr val="006646"/>
                </a:solidFill>
                <a:latin typeface="Verdana"/>
                <a:cs typeface="Verdana"/>
              </a:rPr>
              <a:t>Methodology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3100"/>
              </a:lnSpc>
              <a:spcBef>
                <a:spcPts val="1010"/>
              </a:spcBef>
            </a:pP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The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model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4B4A4A"/>
                </a:solidFill>
                <a:latin typeface="Verdana"/>
                <a:cs typeface="Verdana"/>
              </a:rPr>
              <a:t>was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tested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against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10,000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unseen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4B4A4A"/>
                </a:solidFill>
                <a:latin typeface="Verdana"/>
                <a:cs typeface="Verdana"/>
              </a:rPr>
              <a:t>test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images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to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4B4A4A"/>
                </a:solidFill>
                <a:latin typeface="Verdana"/>
                <a:cs typeface="Verdana"/>
              </a:rPr>
              <a:t>assess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real-</a:t>
            </a:r>
            <a:r>
              <a:rPr sz="1350" spc="-20" dirty="0">
                <a:solidFill>
                  <a:srgbClr val="4B4A4A"/>
                </a:solidFill>
                <a:latin typeface="Verdana"/>
                <a:cs typeface="Verdana"/>
              </a:rPr>
              <a:t>world 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viability.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4B4A4A"/>
                </a:solidFill>
                <a:latin typeface="Verdana"/>
                <a:cs typeface="Verdana"/>
              </a:rPr>
              <a:t>A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confusion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matrix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4B4A4A"/>
                </a:solidFill>
                <a:latin typeface="Verdana"/>
                <a:cs typeface="Verdana"/>
              </a:rPr>
              <a:t>was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generated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using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Seaborn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to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visualize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4B4A4A"/>
                </a:solidFill>
                <a:latin typeface="Verdana"/>
                <a:cs typeface="Verdana"/>
              </a:rPr>
              <a:t>true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positives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versus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4B4A4A"/>
                </a:solidFill>
                <a:latin typeface="Verdana"/>
                <a:cs typeface="Verdana"/>
              </a:rPr>
              <a:t>false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positives.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650" b="1" spc="-80" dirty="0">
                <a:solidFill>
                  <a:srgbClr val="006646"/>
                </a:solidFill>
                <a:latin typeface="Verdana"/>
                <a:cs typeface="Verdana"/>
              </a:rPr>
              <a:t>Performance</a:t>
            </a:r>
            <a:r>
              <a:rPr sz="1650" b="1" spc="-55" dirty="0">
                <a:solidFill>
                  <a:srgbClr val="006646"/>
                </a:solidFill>
                <a:latin typeface="Verdana"/>
                <a:cs typeface="Verdana"/>
              </a:rPr>
              <a:t> </a:t>
            </a:r>
            <a:r>
              <a:rPr sz="1650" b="1" spc="-10" dirty="0">
                <a:solidFill>
                  <a:srgbClr val="006646"/>
                </a:solidFill>
                <a:latin typeface="Verdana"/>
                <a:cs typeface="Verdana"/>
              </a:rPr>
              <a:t>Summary</a:t>
            </a:r>
            <a:endParaRPr sz="1650">
              <a:latin typeface="Verdana"/>
              <a:cs typeface="Verdana"/>
            </a:endParaRPr>
          </a:p>
          <a:p>
            <a:pPr marL="12700" marR="318770">
              <a:lnSpc>
                <a:spcPct val="133100"/>
              </a:lnSpc>
              <a:spcBef>
                <a:spcPts val="935"/>
              </a:spcBef>
            </a:pP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The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evaluation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yielded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b="1" spc="-10" dirty="0">
                <a:solidFill>
                  <a:srgbClr val="2E7D31"/>
                </a:solidFill>
                <a:latin typeface="Trebuchet MS"/>
                <a:cs typeface="Trebuchet MS"/>
              </a:rPr>
              <a:t>97.5%</a:t>
            </a:r>
            <a:r>
              <a:rPr sz="1350" b="1" spc="-55" dirty="0">
                <a:solidFill>
                  <a:srgbClr val="2E7D31"/>
                </a:solidFill>
                <a:latin typeface="Trebuchet MS"/>
                <a:cs typeface="Trebuchet MS"/>
              </a:rPr>
              <a:t> </a:t>
            </a:r>
            <a:r>
              <a:rPr sz="1350" b="1" spc="45" dirty="0">
                <a:solidFill>
                  <a:srgbClr val="2E7D31"/>
                </a:solidFill>
                <a:latin typeface="Trebuchet MS"/>
                <a:cs typeface="Trebuchet MS"/>
              </a:rPr>
              <a:t>test </a:t>
            </a:r>
            <a:r>
              <a:rPr sz="1350" b="1" dirty="0">
                <a:solidFill>
                  <a:srgbClr val="2E7D31"/>
                </a:solidFill>
                <a:latin typeface="Trebuchet MS"/>
                <a:cs typeface="Trebuchet MS"/>
              </a:rPr>
              <a:t>accuracy</a:t>
            </a:r>
            <a:r>
              <a:rPr sz="1350" dirty="0">
                <a:solidFill>
                  <a:srgbClr val="4B4A4A"/>
                </a:solidFill>
                <a:latin typeface="Verdana"/>
                <a:cs typeface="Verdana"/>
              </a:rPr>
              <a:t>,</a:t>
            </a:r>
            <a:r>
              <a:rPr sz="1350" spc="-2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significantly</a:t>
            </a:r>
            <a:r>
              <a:rPr sz="1350" spc="-1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exceeding</a:t>
            </a:r>
            <a:r>
              <a:rPr sz="1350" spc="-1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4B4A4A"/>
                </a:solidFill>
                <a:latin typeface="Verdana"/>
                <a:cs typeface="Verdana"/>
              </a:rPr>
              <a:t>the </a:t>
            </a:r>
            <a:r>
              <a:rPr sz="1350" spc="-135" dirty="0">
                <a:solidFill>
                  <a:srgbClr val="4B4A4A"/>
                </a:solidFill>
                <a:latin typeface="Verdana"/>
                <a:cs typeface="Verdana"/>
              </a:rPr>
              <a:t>90%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target.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This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indicates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strong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generalization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capability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 and </a:t>
            </a:r>
            <a:r>
              <a:rPr sz="1350" spc="-25" dirty="0">
                <a:solidFill>
                  <a:srgbClr val="4B4A4A"/>
                </a:solidFill>
                <a:latin typeface="Verdana"/>
                <a:cs typeface="Verdana"/>
              </a:rPr>
              <a:t>minimal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overfitting.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6360"/>
          </a:xfrm>
          <a:custGeom>
            <a:avLst/>
            <a:gdLst/>
            <a:ahLst/>
            <a:cxnLst/>
            <a:rect l="l" t="t" r="r" b="b"/>
            <a:pathLst>
              <a:path w="9535160" h="6436360">
                <a:moveTo>
                  <a:pt x="9534777" y="0"/>
                </a:moveTo>
                <a:lnTo>
                  <a:pt x="0" y="0"/>
                </a:lnTo>
                <a:lnTo>
                  <a:pt x="0" y="6435974"/>
                </a:lnTo>
                <a:lnTo>
                  <a:pt x="9534777" y="6435974"/>
                </a:lnTo>
                <a:lnTo>
                  <a:pt x="9534777" y="0"/>
                </a:lnTo>
                <a:close/>
              </a:path>
            </a:pathLst>
          </a:custGeom>
          <a:solidFill>
            <a:srgbClr val="E5F9F2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875" y="400473"/>
            <a:ext cx="6229985" cy="45465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800" spc="-175" dirty="0"/>
              <a:t>Custom</a:t>
            </a:r>
            <a:r>
              <a:rPr sz="2800" spc="-204" dirty="0"/>
              <a:t> </a:t>
            </a:r>
            <a:r>
              <a:rPr sz="2800" spc="-275" dirty="0"/>
              <a:t>Image</a:t>
            </a:r>
            <a:r>
              <a:rPr sz="2800" spc="-204" dirty="0"/>
              <a:t> </a:t>
            </a:r>
            <a:r>
              <a:rPr sz="2800" spc="-120" dirty="0"/>
              <a:t>Prediction</a:t>
            </a:r>
            <a:r>
              <a:rPr sz="2800" spc="-200" dirty="0"/>
              <a:t> </a:t>
            </a:r>
            <a:r>
              <a:rPr sz="2800" spc="-65" dirty="0"/>
              <a:t>Pipeline</a:t>
            </a:r>
            <a:endParaRPr sz="2800"/>
          </a:p>
        </p:txBody>
      </p:sp>
      <p:grpSp>
        <p:nvGrpSpPr>
          <p:cNvPr id="4" name="object 4"/>
          <p:cNvGrpSpPr/>
          <p:nvPr/>
        </p:nvGrpSpPr>
        <p:grpSpPr>
          <a:xfrm>
            <a:off x="495813" y="1123519"/>
            <a:ext cx="725170" cy="868044"/>
            <a:chOff x="495813" y="1123519"/>
            <a:chExt cx="725170" cy="868044"/>
          </a:xfrm>
        </p:grpSpPr>
        <p:sp>
          <p:nvSpPr>
            <p:cNvPr id="5" name="object 5"/>
            <p:cNvSpPr/>
            <p:nvPr/>
          </p:nvSpPr>
          <p:spPr>
            <a:xfrm>
              <a:off x="500575" y="1128281"/>
              <a:ext cx="715645" cy="858519"/>
            </a:xfrm>
            <a:custGeom>
              <a:avLst/>
              <a:gdLst/>
              <a:ahLst/>
              <a:cxnLst/>
              <a:rect l="l" t="t" r="r" b="b"/>
              <a:pathLst>
                <a:path w="715644" h="858519">
                  <a:moveTo>
                    <a:pt x="715108" y="0"/>
                  </a:moveTo>
                  <a:lnTo>
                    <a:pt x="357554" y="143021"/>
                  </a:lnTo>
                  <a:lnTo>
                    <a:pt x="0" y="0"/>
                  </a:lnTo>
                  <a:lnTo>
                    <a:pt x="0" y="715108"/>
                  </a:lnTo>
                  <a:lnTo>
                    <a:pt x="357554" y="858129"/>
                  </a:lnTo>
                  <a:lnTo>
                    <a:pt x="715108" y="715108"/>
                  </a:lnTo>
                  <a:lnTo>
                    <a:pt x="715108" y="0"/>
                  </a:lnTo>
                  <a:close/>
                </a:path>
              </a:pathLst>
            </a:custGeom>
            <a:solidFill>
              <a:srgbClr val="D1E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0575" y="1128281"/>
              <a:ext cx="715645" cy="858519"/>
            </a:xfrm>
            <a:custGeom>
              <a:avLst/>
              <a:gdLst/>
              <a:ahLst/>
              <a:cxnLst/>
              <a:rect l="l" t="t" r="r" b="b"/>
              <a:pathLst>
                <a:path w="715644" h="858519">
                  <a:moveTo>
                    <a:pt x="0" y="715108"/>
                  </a:moveTo>
                  <a:lnTo>
                    <a:pt x="357554" y="858129"/>
                  </a:lnTo>
                  <a:lnTo>
                    <a:pt x="715108" y="715108"/>
                  </a:lnTo>
                  <a:lnTo>
                    <a:pt x="715108" y="0"/>
                  </a:lnTo>
                  <a:lnTo>
                    <a:pt x="357554" y="143021"/>
                  </a:lnTo>
                  <a:lnTo>
                    <a:pt x="0" y="0"/>
                  </a:lnTo>
                  <a:lnTo>
                    <a:pt x="0" y="715108"/>
                  </a:lnTo>
                  <a:close/>
                </a:path>
              </a:pathLst>
            </a:custGeom>
            <a:ln w="8938">
              <a:solidFill>
                <a:srgbClr val="B6D5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82237" y="1417516"/>
            <a:ext cx="151765" cy="2832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50" b="1" spc="240" dirty="0">
                <a:solidFill>
                  <a:srgbClr val="4B4A4A"/>
                </a:solidFill>
                <a:latin typeface="Verdana"/>
                <a:cs typeface="Verdana"/>
              </a:rPr>
              <a:t>f</a:t>
            </a:r>
            <a:endParaRPr sz="165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46005" y="1146371"/>
            <a:ext cx="1997075" cy="635635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1400" b="1" spc="-120" dirty="0">
                <a:solidFill>
                  <a:srgbClr val="4B4A4A"/>
                </a:solidFill>
                <a:latin typeface="Verdana"/>
                <a:cs typeface="Verdana"/>
              </a:rPr>
              <a:t>Imagc</a:t>
            </a:r>
            <a:r>
              <a:rPr sz="1400" b="1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400" b="1" spc="-25" dirty="0">
                <a:solidFill>
                  <a:srgbClr val="4B4A4A"/>
                </a:solidFill>
                <a:latin typeface="Verdana"/>
                <a:cs typeface="Verdana"/>
              </a:rPr>
              <a:t>Woading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100" spc="-35" dirty="0">
                <a:solidFill>
                  <a:srgbClr val="4B4A4A"/>
                </a:solidFill>
                <a:latin typeface="Verdana"/>
                <a:cs typeface="Verdana"/>
              </a:rPr>
              <a:t>OpenCV</a:t>
            </a:r>
            <a:r>
              <a:rPr sz="1100" spc="-6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30" dirty="0">
                <a:solidFill>
                  <a:srgbClr val="4B4A4A"/>
                </a:solidFill>
                <a:latin typeface="Verdana"/>
                <a:cs typeface="Verdana"/>
              </a:rPr>
              <a:t>loads</a:t>
            </a:r>
            <a:r>
              <a:rPr sz="1100" spc="-6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4B4A4A"/>
                </a:solidFill>
                <a:latin typeface="Verdana"/>
                <a:cs typeface="Verdana"/>
              </a:rPr>
              <a:t>3-</a:t>
            </a:r>
            <a:r>
              <a:rPr sz="1100" spc="-50" dirty="0">
                <a:solidFill>
                  <a:srgbClr val="4B4A4A"/>
                </a:solidFill>
                <a:latin typeface="Verdana"/>
                <a:cs typeface="Verdana"/>
              </a:rPr>
              <a:t>digit.PNG</a:t>
            </a:r>
            <a:r>
              <a:rPr sz="1100" spc="-5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4B4A4A"/>
                </a:solidFill>
                <a:latin typeface="Verdana"/>
                <a:cs typeface="Verdana"/>
              </a:rPr>
              <a:t>file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95813" y="1981649"/>
            <a:ext cx="725170" cy="868044"/>
            <a:chOff x="495813" y="1981649"/>
            <a:chExt cx="725170" cy="868044"/>
          </a:xfrm>
        </p:grpSpPr>
        <p:sp>
          <p:nvSpPr>
            <p:cNvPr id="10" name="object 10"/>
            <p:cNvSpPr/>
            <p:nvPr/>
          </p:nvSpPr>
          <p:spPr>
            <a:xfrm>
              <a:off x="500575" y="1986411"/>
              <a:ext cx="715645" cy="858519"/>
            </a:xfrm>
            <a:custGeom>
              <a:avLst/>
              <a:gdLst/>
              <a:ahLst/>
              <a:cxnLst/>
              <a:rect l="l" t="t" r="r" b="b"/>
              <a:pathLst>
                <a:path w="715644" h="858519">
                  <a:moveTo>
                    <a:pt x="715108" y="0"/>
                  </a:moveTo>
                  <a:lnTo>
                    <a:pt x="357554" y="143021"/>
                  </a:lnTo>
                  <a:lnTo>
                    <a:pt x="0" y="0"/>
                  </a:lnTo>
                  <a:lnTo>
                    <a:pt x="0" y="715108"/>
                  </a:lnTo>
                  <a:lnTo>
                    <a:pt x="357554" y="858129"/>
                  </a:lnTo>
                  <a:lnTo>
                    <a:pt x="715108" y="715108"/>
                  </a:lnTo>
                  <a:lnTo>
                    <a:pt x="715108" y="0"/>
                  </a:lnTo>
                  <a:close/>
                </a:path>
              </a:pathLst>
            </a:custGeom>
            <a:solidFill>
              <a:srgbClr val="D1E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00575" y="1986411"/>
              <a:ext cx="715645" cy="858519"/>
            </a:xfrm>
            <a:custGeom>
              <a:avLst/>
              <a:gdLst/>
              <a:ahLst/>
              <a:cxnLst/>
              <a:rect l="l" t="t" r="r" b="b"/>
              <a:pathLst>
                <a:path w="715644" h="858519">
                  <a:moveTo>
                    <a:pt x="0" y="715108"/>
                  </a:moveTo>
                  <a:lnTo>
                    <a:pt x="357554" y="858129"/>
                  </a:lnTo>
                  <a:lnTo>
                    <a:pt x="715108" y="715108"/>
                  </a:lnTo>
                  <a:lnTo>
                    <a:pt x="715108" y="0"/>
                  </a:lnTo>
                  <a:lnTo>
                    <a:pt x="357554" y="143021"/>
                  </a:lnTo>
                  <a:lnTo>
                    <a:pt x="0" y="0"/>
                  </a:lnTo>
                  <a:lnTo>
                    <a:pt x="0" y="715108"/>
                  </a:lnTo>
                  <a:close/>
                </a:path>
              </a:pathLst>
            </a:custGeom>
            <a:ln w="8938">
              <a:solidFill>
                <a:srgbClr val="B6D5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82237" y="2275646"/>
            <a:ext cx="151765" cy="2832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50" b="1" spc="-130" dirty="0">
                <a:solidFill>
                  <a:srgbClr val="4B4A4A"/>
                </a:solidFill>
                <a:latin typeface="Verdana"/>
                <a:cs typeface="Verdana"/>
              </a:rPr>
              <a:t>2</a:t>
            </a:r>
            <a:endParaRPr sz="165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46005" y="2004500"/>
            <a:ext cx="2271395" cy="635635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1400" b="1" spc="-70" dirty="0">
                <a:solidFill>
                  <a:srgbClr val="4B4A4A"/>
                </a:solidFill>
                <a:latin typeface="Verdana"/>
                <a:cs typeface="Verdana"/>
              </a:rPr>
              <a:t>Črayscalc</a:t>
            </a:r>
            <a:r>
              <a:rPr sz="1400" b="1" spc="-4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400" b="1" spc="-10" dirty="0">
                <a:solidFill>
                  <a:srgbClr val="4B4A4A"/>
                </a:solidFill>
                <a:latin typeface="Verdana"/>
                <a:cs typeface="Verdana"/>
              </a:rPr>
              <a:t>Conucrsion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100" spc="-85" dirty="0">
                <a:solidFill>
                  <a:srgbClr val="4B4A4A"/>
                </a:solidFill>
                <a:latin typeface="Verdana"/>
                <a:cs typeface="Verdana"/>
              </a:rPr>
              <a:t>Image</a:t>
            </a:r>
            <a:r>
              <a:rPr sz="1100" spc="-6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55" dirty="0">
                <a:solidFill>
                  <a:srgbClr val="4B4A4A"/>
                </a:solidFill>
                <a:latin typeface="Verdana"/>
                <a:cs typeface="Verdana"/>
              </a:rPr>
              <a:t>converted</a:t>
            </a:r>
            <a:r>
              <a:rPr sz="1100" spc="-6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4B4A4A"/>
                </a:solidFill>
                <a:latin typeface="Verdana"/>
                <a:cs typeface="Verdana"/>
              </a:rPr>
              <a:t>to</a:t>
            </a:r>
            <a:r>
              <a:rPr sz="1100" spc="-6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30" dirty="0">
                <a:solidFill>
                  <a:srgbClr val="4B4A4A"/>
                </a:solidFill>
                <a:latin typeface="Verdana"/>
                <a:cs typeface="Verdana"/>
              </a:rPr>
              <a:t>single</a:t>
            </a:r>
            <a:r>
              <a:rPr sz="1100" spc="-6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4B4A4A"/>
                </a:solidFill>
                <a:latin typeface="Verdana"/>
                <a:cs typeface="Verdana"/>
              </a:rPr>
              <a:t>channel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95813" y="2839778"/>
            <a:ext cx="725170" cy="868044"/>
            <a:chOff x="495813" y="2839778"/>
            <a:chExt cx="725170" cy="868044"/>
          </a:xfrm>
        </p:grpSpPr>
        <p:sp>
          <p:nvSpPr>
            <p:cNvPr id="15" name="object 15"/>
            <p:cNvSpPr/>
            <p:nvPr/>
          </p:nvSpPr>
          <p:spPr>
            <a:xfrm>
              <a:off x="500575" y="2844541"/>
              <a:ext cx="715645" cy="858519"/>
            </a:xfrm>
            <a:custGeom>
              <a:avLst/>
              <a:gdLst/>
              <a:ahLst/>
              <a:cxnLst/>
              <a:rect l="l" t="t" r="r" b="b"/>
              <a:pathLst>
                <a:path w="715644" h="858520">
                  <a:moveTo>
                    <a:pt x="715108" y="0"/>
                  </a:moveTo>
                  <a:lnTo>
                    <a:pt x="357554" y="143021"/>
                  </a:lnTo>
                  <a:lnTo>
                    <a:pt x="0" y="0"/>
                  </a:lnTo>
                  <a:lnTo>
                    <a:pt x="0" y="715108"/>
                  </a:lnTo>
                  <a:lnTo>
                    <a:pt x="357554" y="858129"/>
                  </a:lnTo>
                  <a:lnTo>
                    <a:pt x="715108" y="715108"/>
                  </a:lnTo>
                  <a:lnTo>
                    <a:pt x="715108" y="0"/>
                  </a:lnTo>
                  <a:close/>
                </a:path>
              </a:pathLst>
            </a:custGeom>
            <a:solidFill>
              <a:srgbClr val="D1E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00575" y="2844541"/>
              <a:ext cx="715645" cy="858519"/>
            </a:xfrm>
            <a:custGeom>
              <a:avLst/>
              <a:gdLst/>
              <a:ahLst/>
              <a:cxnLst/>
              <a:rect l="l" t="t" r="r" b="b"/>
              <a:pathLst>
                <a:path w="715644" h="858520">
                  <a:moveTo>
                    <a:pt x="0" y="715108"/>
                  </a:moveTo>
                  <a:lnTo>
                    <a:pt x="357554" y="858129"/>
                  </a:lnTo>
                  <a:lnTo>
                    <a:pt x="715108" y="715108"/>
                  </a:lnTo>
                  <a:lnTo>
                    <a:pt x="715108" y="0"/>
                  </a:lnTo>
                  <a:lnTo>
                    <a:pt x="357554" y="143021"/>
                  </a:lnTo>
                  <a:lnTo>
                    <a:pt x="0" y="0"/>
                  </a:lnTo>
                  <a:lnTo>
                    <a:pt x="0" y="715108"/>
                  </a:lnTo>
                  <a:close/>
                </a:path>
              </a:pathLst>
            </a:custGeom>
            <a:ln w="8938">
              <a:solidFill>
                <a:srgbClr val="B6D5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82237" y="3133776"/>
            <a:ext cx="151765" cy="2832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50" b="1" spc="-130" dirty="0">
                <a:solidFill>
                  <a:srgbClr val="4B4A4A"/>
                </a:solidFill>
                <a:latin typeface="Verdana"/>
                <a:cs typeface="Verdana"/>
              </a:rPr>
              <a:t>3</a:t>
            </a:r>
            <a:endParaRPr sz="165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46005" y="2862630"/>
            <a:ext cx="1520825" cy="635635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1400" b="1" spc="-10" dirty="0">
                <a:solidFill>
                  <a:srgbClr val="4B4A4A"/>
                </a:solidFill>
                <a:latin typeface="Verdana"/>
                <a:cs typeface="Verdana"/>
              </a:rPr>
              <a:t>Rcsixing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100" spc="-25" dirty="0">
                <a:solidFill>
                  <a:srgbClr val="4B4A4A"/>
                </a:solidFill>
                <a:latin typeface="Verdana"/>
                <a:cs typeface="Verdana"/>
              </a:rPr>
              <a:t>Scaled</a:t>
            </a:r>
            <a:r>
              <a:rPr sz="1100" spc="-8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4B4A4A"/>
                </a:solidFill>
                <a:latin typeface="Verdana"/>
                <a:cs typeface="Verdana"/>
              </a:rPr>
              <a:t>to</a:t>
            </a:r>
            <a:r>
              <a:rPr sz="1100" spc="-8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90" dirty="0">
                <a:solidFill>
                  <a:srgbClr val="4B4A4A"/>
                </a:solidFill>
                <a:latin typeface="Verdana"/>
                <a:cs typeface="Verdana"/>
              </a:rPr>
              <a:t>28×28</a:t>
            </a:r>
            <a:r>
              <a:rPr sz="1100" spc="-7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4B4A4A"/>
                </a:solidFill>
                <a:latin typeface="Verdana"/>
                <a:cs typeface="Verdana"/>
              </a:rPr>
              <a:t>pixels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95813" y="3697909"/>
            <a:ext cx="725170" cy="868044"/>
            <a:chOff x="495813" y="3697909"/>
            <a:chExt cx="725170" cy="868044"/>
          </a:xfrm>
        </p:grpSpPr>
        <p:sp>
          <p:nvSpPr>
            <p:cNvPr id="20" name="object 20"/>
            <p:cNvSpPr/>
            <p:nvPr/>
          </p:nvSpPr>
          <p:spPr>
            <a:xfrm>
              <a:off x="500575" y="3702671"/>
              <a:ext cx="715645" cy="858519"/>
            </a:xfrm>
            <a:custGeom>
              <a:avLst/>
              <a:gdLst/>
              <a:ahLst/>
              <a:cxnLst/>
              <a:rect l="l" t="t" r="r" b="b"/>
              <a:pathLst>
                <a:path w="715644" h="858520">
                  <a:moveTo>
                    <a:pt x="715108" y="0"/>
                  </a:moveTo>
                  <a:lnTo>
                    <a:pt x="357554" y="143021"/>
                  </a:lnTo>
                  <a:lnTo>
                    <a:pt x="0" y="0"/>
                  </a:lnTo>
                  <a:lnTo>
                    <a:pt x="0" y="715108"/>
                  </a:lnTo>
                  <a:lnTo>
                    <a:pt x="357554" y="858129"/>
                  </a:lnTo>
                  <a:lnTo>
                    <a:pt x="715108" y="715108"/>
                  </a:lnTo>
                  <a:lnTo>
                    <a:pt x="715108" y="0"/>
                  </a:lnTo>
                  <a:close/>
                </a:path>
              </a:pathLst>
            </a:custGeom>
            <a:solidFill>
              <a:srgbClr val="D1E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00575" y="3702671"/>
              <a:ext cx="715645" cy="858519"/>
            </a:xfrm>
            <a:custGeom>
              <a:avLst/>
              <a:gdLst/>
              <a:ahLst/>
              <a:cxnLst/>
              <a:rect l="l" t="t" r="r" b="b"/>
              <a:pathLst>
                <a:path w="715644" h="858520">
                  <a:moveTo>
                    <a:pt x="0" y="715108"/>
                  </a:moveTo>
                  <a:lnTo>
                    <a:pt x="357554" y="858129"/>
                  </a:lnTo>
                  <a:lnTo>
                    <a:pt x="715108" y="715108"/>
                  </a:lnTo>
                  <a:lnTo>
                    <a:pt x="715108" y="0"/>
                  </a:lnTo>
                  <a:lnTo>
                    <a:pt x="357554" y="143021"/>
                  </a:lnTo>
                  <a:lnTo>
                    <a:pt x="0" y="0"/>
                  </a:lnTo>
                  <a:lnTo>
                    <a:pt x="0" y="715108"/>
                  </a:lnTo>
                  <a:close/>
                </a:path>
              </a:pathLst>
            </a:custGeom>
            <a:ln w="8938">
              <a:solidFill>
                <a:srgbClr val="B6D5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82237" y="3991906"/>
            <a:ext cx="151765" cy="2832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50" b="1" spc="-130" dirty="0">
                <a:solidFill>
                  <a:srgbClr val="4B4A4A"/>
                </a:solidFill>
                <a:latin typeface="Verdana"/>
                <a:cs typeface="Verdana"/>
              </a:rPr>
              <a:t>h</a:t>
            </a:r>
            <a:endParaRPr sz="165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46005" y="3720761"/>
            <a:ext cx="1504950" cy="635635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1400" b="1" spc="-10" dirty="0">
                <a:solidFill>
                  <a:srgbClr val="4B4A4A"/>
                </a:solidFill>
                <a:latin typeface="Verdana"/>
                <a:cs typeface="Verdana"/>
              </a:rPr>
              <a:t>Normalixa”ion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100" spc="-35" dirty="0">
                <a:solidFill>
                  <a:srgbClr val="4B4A4A"/>
                </a:solidFill>
                <a:latin typeface="Verdana"/>
                <a:cs typeface="Verdana"/>
              </a:rPr>
              <a:t>Pixel</a:t>
            </a:r>
            <a:r>
              <a:rPr sz="1100" spc="-6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50" dirty="0">
                <a:solidFill>
                  <a:srgbClr val="4B4A4A"/>
                </a:solidFill>
                <a:latin typeface="Verdana"/>
                <a:cs typeface="Verdana"/>
              </a:rPr>
              <a:t>values</a:t>
            </a:r>
            <a:r>
              <a:rPr sz="1100" spc="-5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4B4A4A"/>
                </a:solidFill>
                <a:latin typeface="Verdana"/>
                <a:cs typeface="Verdana"/>
              </a:rPr>
              <a:t>scaled</a:t>
            </a:r>
            <a:r>
              <a:rPr sz="1100" spc="-5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4B4A4A"/>
                </a:solidFill>
                <a:latin typeface="Verdana"/>
                <a:cs typeface="Verdana"/>
              </a:rPr>
              <a:t>0-</a:t>
            </a:r>
            <a:r>
              <a:rPr sz="1100" spc="-325" dirty="0">
                <a:solidFill>
                  <a:srgbClr val="4B4A4A"/>
                </a:solidFill>
                <a:latin typeface="Verdana"/>
                <a:cs typeface="Verdana"/>
              </a:rPr>
              <a:t>1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96106" y="4556331"/>
            <a:ext cx="724535" cy="867410"/>
            <a:chOff x="496106" y="4556331"/>
            <a:chExt cx="724535" cy="867410"/>
          </a:xfrm>
        </p:grpSpPr>
        <p:sp>
          <p:nvSpPr>
            <p:cNvPr id="25" name="object 25"/>
            <p:cNvSpPr/>
            <p:nvPr/>
          </p:nvSpPr>
          <p:spPr>
            <a:xfrm>
              <a:off x="500575" y="4560801"/>
              <a:ext cx="715645" cy="858519"/>
            </a:xfrm>
            <a:custGeom>
              <a:avLst/>
              <a:gdLst/>
              <a:ahLst/>
              <a:cxnLst/>
              <a:rect l="l" t="t" r="r" b="b"/>
              <a:pathLst>
                <a:path w="715644" h="858520">
                  <a:moveTo>
                    <a:pt x="715108" y="0"/>
                  </a:moveTo>
                  <a:lnTo>
                    <a:pt x="357554" y="143021"/>
                  </a:lnTo>
                  <a:lnTo>
                    <a:pt x="0" y="0"/>
                  </a:lnTo>
                  <a:lnTo>
                    <a:pt x="0" y="715108"/>
                  </a:lnTo>
                  <a:lnTo>
                    <a:pt x="357554" y="858131"/>
                  </a:lnTo>
                  <a:lnTo>
                    <a:pt x="715108" y="715108"/>
                  </a:lnTo>
                  <a:lnTo>
                    <a:pt x="715108" y="0"/>
                  </a:lnTo>
                  <a:close/>
                </a:path>
              </a:pathLst>
            </a:custGeom>
            <a:solidFill>
              <a:srgbClr val="D1E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00575" y="4560801"/>
              <a:ext cx="715645" cy="858519"/>
            </a:xfrm>
            <a:custGeom>
              <a:avLst/>
              <a:gdLst/>
              <a:ahLst/>
              <a:cxnLst/>
              <a:rect l="l" t="t" r="r" b="b"/>
              <a:pathLst>
                <a:path w="715644" h="858520">
                  <a:moveTo>
                    <a:pt x="0" y="715108"/>
                  </a:moveTo>
                  <a:lnTo>
                    <a:pt x="357554" y="858131"/>
                  </a:lnTo>
                  <a:lnTo>
                    <a:pt x="715108" y="715108"/>
                  </a:lnTo>
                  <a:lnTo>
                    <a:pt x="715108" y="0"/>
                  </a:lnTo>
                  <a:lnTo>
                    <a:pt x="357554" y="143021"/>
                  </a:lnTo>
                  <a:lnTo>
                    <a:pt x="0" y="0"/>
                  </a:lnTo>
                  <a:lnTo>
                    <a:pt x="0" y="715108"/>
                  </a:lnTo>
                  <a:close/>
                </a:path>
              </a:pathLst>
            </a:custGeom>
            <a:ln w="8938">
              <a:solidFill>
                <a:srgbClr val="B6D5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82237" y="4850036"/>
            <a:ext cx="151765" cy="2832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50" b="1" spc="-130" dirty="0">
                <a:solidFill>
                  <a:srgbClr val="4B4A4A"/>
                </a:solidFill>
                <a:latin typeface="Verdana"/>
                <a:cs typeface="Verdana"/>
              </a:rPr>
              <a:t>5</a:t>
            </a:r>
            <a:endParaRPr sz="165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46005" y="4578891"/>
            <a:ext cx="1811020" cy="635635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1400" b="1" spc="-25" dirty="0">
                <a:solidFill>
                  <a:srgbClr val="4B4A4A"/>
                </a:solidFill>
                <a:latin typeface="Verdana"/>
                <a:cs typeface="Verdana"/>
              </a:rPr>
              <a:t>Wrcdic”ion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100" spc="-20" dirty="0">
                <a:solidFill>
                  <a:srgbClr val="4B4A4A"/>
                </a:solidFill>
                <a:latin typeface="Verdana"/>
                <a:cs typeface="Verdana"/>
              </a:rPr>
              <a:t>Model</a:t>
            </a:r>
            <a:r>
              <a:rPr sz="1100" spc="-6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45" dirty="0">
                <a:solidFill>
                  <a:srgbClr val="4B4A4A"/>
                </a:solidFill>
                <a:latin typeface="Verdana"/>
                <a:cs typeface="Verdana"/>
              </a:rPr>
              <a:t>outputs</a:t>
            </a:r>
            <a:r>
              <a:rPr sz="1100" spc="-6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30" dirty="0">
                <a:solidFill>
                  <a:srgbClr val="4B4A4A"/>
                </a:solidFill>
                <a:latin typeface="Verdana"/>
                <a:cs typeface="Verdana"/>
              </a:rPr>
              <a:t>probabilities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943344" y="5593736"/>
            <a:ext cx="810895" cy="191135"/>
          </a:xfrm>
          <a:custGeom>
            <a:avLst/>
            <a:gdLst/>
            <a:ahLst/>
            <a:cxnLst/>
            <a:rect l="l" t="t" r="r" b="b"/>
            <a:pathLst>
              <a:path w="810895" h="191135">
                <a:moveTo>
                  <a:pt x="794946" y="0"/>
                </a:moveTo>
                <a:lnTo>
                  <a:pt x="15509" y="0"/>
                </a:lnTo>
                <a:lnTo>
                  <a:pt x="13221" y="451"/>
                </a:lnTo>
                <a:lnTo>
                  <a:pt x="0" y="15505"/>
                </a:lnTo>
                <a:lnTo>
                  <a:pt x="0" y="172817"/>
                </a:lnTo>
                <a:lnTo>
                  <a:pt x="0" y="175184"/>
                </a:lnTo>
                <a:lnTo>
                  <a:pt x="15509" y="190695"/>
                </a:lnTo>
                <a:lnTo>
                  <a:pt x="794946" y="190695"/>
                </a:lnTo>
                <a:lnTo>
                  <a:pt x="810456" y="175184"/>
                </a:lnTo>
                <a:lnTo>
                  <a:pt x="810456" y="15505"/>
                </a:lnTo>
                <a:lnTo>
                  <a:pt x="797234" y="451"/>
                </a:lnTo>
                <a:lnTo>
                  <a:pt x="794946" y="0"/>
                </a:lnTo>
                <a:close/>
              </a:path>
            </a:pathLst>
          </a:custGeom>
          <a:solidFill>
            <a:srgbClr val="D8EC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87873" y="5530182"/>
            <a:ext cx="8409305" cy="48640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7500"/>
              </a:lnSpc>
              <a:spcBef>
                <a:spcPts val="95"/>
              </a:spcBef>
            </a:pPr>
            <a:r>
              <a:rPr sz="1100" spc="-65" dirty="0">
                <a:solidFill>
                  <a:srgbClr val="4B4A4A"/>
                </a:solidFill>
                <a:latin typeface="Verdana"/>
                <a:cs typeface="Verdana"/>
              </a:rPr>
              <a:t>The </a:t>
            </a:r>
            <a:r>
              <a:rPr sz="1100" spc="-45" dirty="0">
                <a:solidFill>
                  <a:srgbClr val="4B4A4A"/>
                </a:solidFill>
                <a:latin typeface="Verdana"/>
                <a:cs typeface="Verdana"/>
              </a:rPr>
              <a:t>preprocessing</a:t>
            </a:r>
            <a:r>
              <a:rPr sz="1100" spc="-6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35" dirty="0">
                <a:solidFill>
                  <a:srgbClr val="4B4A4A"/>
                </a:solidFill>
                <a:latin typeface="Verdana"/>
                <a:cs typeface="Verdana"/>
              </a:rPr>
              <a:t>pipeline</a:t>
            </a:r>
            <a:r>
              <a:rPr sz="1100" spc="-6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45" dirty="0">
                <a:solidFill>
                  <a:srgbClr val="4B4A4A"/>
                </a:solidFill>
                <a:latin typeface="Verdana"/>
                <a:cs typeface="Verdana"/>
              </a:rPr>
              <a:t>ensures</a:t>
            </a:r>
            <a:r>
              <a:rPr sz="1100" spc="-6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45" dirty="0">
                <a:solidFill>
                  <a:srgbClr val="4B4A4A"/>
                </a:solidFill>
                <a:latin typeface="Verdana"/>
                <a:cs typeface="Verdana"/>
              </a:rPr>
              <a:t>custom</a:t>
            </a:r>
            <a:r>
              <a:rPr sz="1100" spc="-6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50" dirty="0">
                <a:solidFill>
                  <a:srgbClr val="4B4A4A"/>
                </a:solidFill>
                <a:latin typeface="Verdana"/>
                <a:cs typeface="Verdana"/>
              </a:rPr>
              <a:t>images</a:t>
            </a:r>
            <a:r>
              <a:rPr sz="1100" spc="-6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55" dirty="0">
                <a:solidFill>
                  <a:srgbClr val="4B4A4A"/>
                </a:solidFill>
                <a:latin typeface="Verdana"/>
                <a:cs typeface="Verdana"/>
              </a:rPr>
              <a:t>match</a:t>
            </a:r>
            <a:r>
              <a:rPr sz="1100" spc="-6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40" dirty="0">
                <a:solidFill>
                  <a:srgbClr val="4B4A4A"/>
                </a:solidFill>
                <a:latin typeface="Verdana"/>
                <a:cs typeface="Verdana"/>
              </a:rPr>
              <a:t>the</a:t>
            </a:r>
            <a:r>
              <a:rPr sz="1100" spc="-6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50" dirty="0">
                <a:solidFill>
                  <a:srgbClr val="4B4A4A"/>
                </a:solidFill>
                <a:latin typeface="Verdana"/>
                <a:cs typeface="Verdana"/>
              </a:rPr>
              <a:t>training</a:t>
            </a:r>
            <a:r>
              <a:rPr sz="1100" spc="-6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50" dirty="0">
                <a:solidFill>
                  <a:srgbClr val="4B4A4A"/>
                </a:solidFill>
                <a:latin typeface="Verdana"/>
                <a:cs typeface="Verdana"/>
              </a:rPr>
              <a:t>data</a:t>
            </a:r>
            <a:r>
              <a:rPr sz="1100" spc="-6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75" dirty="0">
                <a:solidFill>
                  <a:srgbClr val="4B4A4A"/>
                </a:solidFill>
                <a:latin typeface="Verdana"/>
                <a:cs typeface="Verdana"/>
              </a:rPr>
              <a:t>format.</a:t>
            </a:r>
            <a:r>
              <a:rPr sz="1100" spc="-5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70" dirty="0">
                <a:solidFill>
                  <a:srgbClr val="4B4A4A"/>
                </a:solidFill>
                <a:latin typeface="Verdana"/>
                <a:cs typeface="Verdana"/>
              </a:rPr>
              <a:t>np.argmax()</a:t>
            </a:r>
            <a:r>
              <a:rPr sz="1100" spc="-6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40" dirty="0">
                <a:solidFill>
                  <a:srgbClr val="4B4A4A"/>
                </a:solidFill>
                <a:latin typeface="Verdana"/>
                <a:cs typeface="Verdana"/>
              </a:rPr>
              <a:t>identifies</a:t>
            </a:r>
            <a:r>
              <a:rPr sz="1100" spc="-6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40" dirty="0">
                <a:solidFill>
                  <a:srgbClr val="4B4A4A"/>
                </a:solidFill>
                <a:latin typeface="Verdana"/>
                <a:cs typeface="Verdana"/>
              </a:rPr>
              <a:t>the</a:t>
            </a:r>
            <a:r>
              <a:rPr sz="1100" spc="-6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45" dirty="0">
                <a:solidFill>
                  <a:srgbClr val="4B4A4A"/>
                </a:solidFill>
                <a:latin typeface="Verdana"/>
                <a:cs typeface="Verdana"/>
              </a:rPr>
              <a:t>highest</a:t>
            </a:r>
            <a:r>
              <a:rPr sz="1100" spc="-6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4B4A4A"/>
                </a:solidFill>
                <a:latin typeface="Verdana"/>
                <a:cs typeface="Verdana"/>
              </a:rPr>
              <a:t>probability </a:t>
            </a:r>
            <a:r>
              <a:rPr sz="1100" spc="-40" dirty="0">
                <a:solidFill>
                  <a:srgbClr val="4B4A4A"/>
                </a:solidFill>
                <a:latin typeface="Verdana"/>
                <a:cs typeface="Verdana"/>
              </a:rPr>
              <a:t>class,</a:t>
            </a:r>
            <a:r>
              <a:rPr sz="1100" spc="-6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50" dirty="0">
                <a:solidFill>
                  <a:srgbClr val="4B4A4A"/>
                </a:solidFill>
                <a:latin typeface="Verdana"/>
                <a:cs typeface="Verdana"/>
              </a:rPr>
              <a:t>producing</a:t>
            </a:r>
            <a:r>
              <a:rPr sz="1100" spc="-6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40" dirty="0">
                <a:solidFill>
                  <a:srgbClr val="4B4A4A"/>
                </a:solidFill>
                <a:latin typeface="Verdana"/>
                <a:cs typeface="Verdana"/>
              </a:rPr>
              <a:t>the</a:t>
            </a:r>
            <a:r>
              <a:rPr sz="1100" spc="-6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30" dirty="0">
                <a:solidFill>
                  <a:srgbClr val="4B4A4A"/>
                </a:solidFill>
                <a:latin typeface="Verdana"/>
                <a:cs typeface="Verdana"/>
              </a:rPr>
              <a:t>final</a:t>
            </a:r>
            <a:r>
              <a:rPr sz="1100" spc="-6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4B4A4A"/>
                </a:solidFill>
                <a:latin typeface="Verdana"/>
                <a:cs typeface="Verdana"/>
              </a:rPr>
              <a:t>prediction.</a:t>
            </a:r>
            <a:endParaRPr sz="1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1778000"/>
            <a:ext cx="525018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04" dirty="0"/>
              <a:t>Results</a:t>
            </a:r>
            <a:r>
              <a:rPr spc="-275" dirty="0"/>
              <a:t> </a:t>
            </a:r>
            <a:r>
              <a:rPr spc="-254" dirty="0"/>
              <a:t>vs.</a:t>
            </a:r>
            <a:r>
              <a:rPr spc="-270" dirty="0"/>
              <a:t> </a:t>
            </a:r>
            <a:r>
              <a:rPr spc="-160" dirty="0"/>
              <a:t>Expectations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00075" y="2647949"/>
            <a:ext cx="10229850" cy="2019300"/>
            <a:chOff x="600075" y="2647949"/>
            <a:chExt cx="10229850" cy="2019300"/>
          </a:xfrm>
        </p:grpSpPr>
        <p:sp>
          <p:nvSpPr>
            <p:cNvPr id="4" name="object 4"/>
            <p:cNvSpPr/>
            <p:nvPr/>
          </p:nvSpPr>
          <p:spPr>
            <a:xfrm>
              <a:off x="604837" y="2652712"/>
              <a:ext cx="10220325" cy="2009775"/>
            </a:xfrm>
            <a:custGeom>
              <a:avLst/>
              <a:gdLst/>
              <a:ahLst/>
              <a:cxnLst/>
              <a:rect l="l" t="t" r="r" b="b"/>
              <a:pathLst>
                <a:path w="10220325" h="2009775">
                  <a:moveTo>
                    <a:pt x="0" y="1885950"/>
                  </a:moveTo>
                  <a:lnTo>
                    <a:pt x="0" y="123825"/>
                  </a:lnTo>
                  <a:lnTo>
                    <a:pt x="0" y="115697"/>
                  </a:lnTo>
                  <a:lnTo>
                    <a:pt x="793" y="107645"/>
                  </a:lnTo>
                  <a:lnTo>
                    <a:pt x="2381" y="99669"/>
                  </a:lnTo>
                  <a:lnTo>
                    <a:pt x="3963" y="91694"/>
                  </a:lnTo>
                  <a:lnTo>
                    <a:pt x="6315" y="83947"/>
                  </a:lnTo>
                  <a:lnTo>
                    <a:pt x="9425" y="76441"/>
                  </a:lnTo>
                  <a:lnTo>
                    <a:pt x="12536" y="68922"/>
                  </a:lnTo>
                  <a:lnTo>
                    <a:pt x="16351" y="61785"/>
                  </a:lnTo>
                  <a:lnTo>
                    <a:pt x="20866" y="55029"/>
                  </a:lnTo>
                  <a:lnTo>
                    <a:pt x="25384" y="48272"/>
                  </a:lnTo>
                  <a:lnTo>
                    <a:pt x="30519" y="42011"/>
                  </a:lnTo>
                  <a:lnTo>
                    <a:pt x="36269" y="36271"/>
                  </a:lnTo>
                  <a:lnTo>
                    <a:pt x="42014" y="30518"/>
                  </a:lnTo>
                  <a:lnTo>
                    <a:pt x="76438" y="9423"/>
                  </a:lnTo>
                  <a:lnTo>
                    <a:pt x="83949" y="6311"/>
                  </a:lnTo>
                  <a:lnTo>
                    <a:pt x="91692" y="3962"/>
                  </a:lnTo>
                  <a:lnTo>
                    <a:pt x="99669" y="2374"/>
                  </a:lnTo>
                  <a:lnTo>
                    <a:pt x="107642" y="800"/>
                  </a:lnTo>
                  <a:lnTo>
                    <a:pt x="115694" y="0"/>
                  </a:lnTo>
                  <a:lnTo>
                    <a:pt x="123825" y="0"/>
                  </a:lnTo>
                  <a:lnTo>
                    <a:pt x="10096500" y="0"/>
                  </a:lnTo>
                  <a:lnTo>
                    <a:pt x="10104628" y="0"/>
                  </a:lnTo>
                  <a:lnTo>
                    <a:pt x="10112679" y="800"/>
                  </a:lnTo>
                  <a:lnTo>
                    <a:pt x="10120655" y="2374"/>
                  </a:lnTo>
                  <a:lnTo>
                    <a:pt x="10128631" y="3962"/>
                  </a:lnTo>
                  <a:lnTo>
                    <a:pt x="10136378" y="6311"/>
                  </a:lnTo>
                  <a:lnTo>
                    <a:pt x="10143883" y="9423"/>
                  </a:lnTo>
                  <a:lnTo>
                    <a:pt x="10151402" y="12534"/>
                  </a:lnTo>
                  <a:lnTo>
                    <a:pt x="10184053" y="36271"/>
                  </a:lnTo>
                  <a:lnTo>
                    <a:pt x="10189807" y="42011"/>
                  </a:lnTo>
                  <a:lnTo>
                    <a:pt x="10210901" y="76441"/>
                  </a:lnTo>
                  <a:lnTo>
                    <a:pt x="10214013" y="83947"/>
                  </a:lnTo>
                  <a:lnTo>
                    <a:pt x="10216362" y="91694"/>
                  </a:lnTo>
                  <a:lnTo>
                    <a:pt x="10217950" y="99669"/>
                  </a:lnTo>
                  <a:lnTo>
                    <a:pt x="10219537" y="107645"/>
                  </a:lnTo>
                  <a:lnTo>
                    <a:pt x="10220325" y="115697"/>
                  </a:lnTo>
                  <a:lnTo>
                    <a:pt x="10220325" y="123825"/>
                  </a:lnTo>
                  <a:lnTo>
                    <a:pt x="10220325" y="1885950"/>
                  </a:lnTo>
                  <a:lnTo>
                    <a:pt x="10220325" y="1894078"/>
                  </a:lnTo>
                  <a:lnTo>
                    <a:pt x="10219537" y="1902129"/>
                  </a:lnTo>
                  <a:lnTo>
                    <a:pt x="10217950" y="1910105"/>
                  </a:lnTo>
                  <a:lnTo>
                    <a:pt x="10216362" y="1918081"/>
                  </a:lnTo>
                  <a:lnTo>
                    <a:pt x="10214013" y="1925828"/>
                  </a:lnTo>
                  <a:lnTo>
                    <a:pt x="10210901" y="1933333"/>
                  </a:lnTo>
                  <a:lnTo>
                    <a:pt x="10207790" y="1940839"/>
                  </a:lnTo>
                  <a:lnTo>
                    <a:pt x="10184053" y="1973503"/>
                  </a:lnTo>
                  <a:lnTo>
                    <a:pt x="10151402" y="1997240"/>
                  </a:lnTo>
                  <a:lnTo>
                    <a:pt x="10143883" y="2000351"/>
                  </a:lnTo>
                  <a:lnTo>
                    <a:pt x="10136378" y="2003463"/>
                  </a:lnTo>
                  <a:lnTo>
                    <a:pt x="10128631" y="2005812"/>
                  </a:lnTo>
                  <a:lnTo>
                    <a:pt x="10120655" y="2007400"/>
                  </a:lnTo>
                  <a:lnTo>
                    <a:pt x="10112679" y="2008987"/>
                  </a:lnTo>
                  <a:lnTo>
                    <a:pt x="10104628" y="2009775"/>
                  </a:lnTo>
                  <a:lnTo>
                    <a:pt x="10096500" y="2009775"/>
                  </a:lnTo>
                  <a:lnTo>
                    <a:pt x="123825" y="2009775"/>
                  </a:lnTo>
                  <a:lnTo>
                    <a:pt x="115694" y="2009775"/>
                  </a:lnTo>
                  <a:lnTo>
                    <a:pt x="107642" y="2008987"/>
                  </a:lnTo>
                  <a:lnTo>
                    <a:pt x="99669" y="2007400"/>
                  </a:lnTo>
                  <a:lnTo>
                    <a:pt x="91692" y="2005812"/>
                  </a:lnTo>
                  <a:lnTo>
                    <a:pt x="83949" y="2003463"/>
                  </a:lnTo>
                  <a:lnTo>
                    <a:pt x="76438" y="2000351"/>
                  </a:lnTo>
                  <a:lnTo>
                    <a:pt x="68926" y="1997240"/>
                  </a:lnTo>
                  <a:lnTo>
                    <a:pt x="61793" y="1993430"/>
                  </a:lnTo>
                  <a:lnTo>
                    <a:pt x="55031" y="1988908"/>
                  </a:lnTo>
                  <a:lnTo>
                    <a:pt x="48270" y="1984387"/>
                  </a:lnTo>
                  <a:lnTo>
                    <a:pt x="42014" y="1979256"/>
                  </a:lnTo>
                  <a:lnTo>
                    <a:pt x="36269" y="1973503"/>
                  </a:lnTo>
                  <a:lnTo>
                    <a:pt x="30519" y="1967750"/>
                  </a:lnTo>
                  <a:lnTo>
                    <a:pt x="9425" y="1933333"/>
                  </a:lnTo>
                  <a:lnTo>
                    <a:pt x="6315" y="1925828"/>
                  </a:lnTo>
                  <a:lnTo>
                    <a:pt x="3963" y="1918081"/>
                  </a:lnTo>
                  <a:lnTo>
                    <a:pt x="2381" y="1910105"/>
                  </a:lnTo>
                  <a:lnTo>
                    <a:pt x="793" y="1902129"/>
                  </a:lnTo>
                  <a:lnTo>
                    <a:pt x="0" y="1894078"/>
                  </a:lnTo>
                  <a:lnTo>
                    <a:pt x="0" y="18859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9587" y="2657487"/>
              <a:ext cx="10210800" cy="504825"/>
            </a:xfrm>
            <a:custGeom>
              <a:avLst/>
              <a:gdLst/>
              <a:ahLst/>
              <a:cxnLst/>
              <a:rect l="l" t="t" r="r" b="b"/>
              <a:pathLst>
                <a:path w="10210800" h="504825">
                  <a:moveTo>
                    <a:pt x="3571875" y="0"/>
                  </a:moveTo>
                  <a:lnTo>
                    <a:pt x="128587" y="0"/>
                  </a:lnTo>
                  <a:lnTo>
                    <a:pt x="115925" y="609"/>
                  </a:lnTo>
                  <a:lnTo>
                    <a:pt x="67919" y="15189"/>
                  </a:lnTo>
                  <a:lnTo>
                    <a:pt x="29146" y="47040"/>
                  </a:lnTo>
                  <a:lnTo>
                    <a:pt x="5511" y="91313"/>
                  </a:lnTo>
                  <a:lnTo>
                    <a:pt x="0" y="128587"/>
                  </a:lnTo>
                  <a:lnTo>
                    <a:pt x="0" y="504825"/>
                  </a:lnTo>
                  <a:lnTo>
                    <a:pt x="3571875" y="504825"/>
                  </a:lnTo>
                  <a:lnTo>
                    <a:pt x="3571875" y="0"/>
                  </a:lnTo>
                  <a:close/>
                </a:path>
                <a:path w="10210800" h="504825">
                  <a:moveTo>
                    <a:pt x="10210800" y="128587"/>
                  </a:moveTo>
                  <a:lnTo>
                    <a:pt x="10201008" y="79375"/>
                  </a:lnTo>
                  <a:lnTo>
                    <a:pt x="10173132" y="37655"/>
                  </a:lnTo>
                  <a:lnTo>
                    <a:pt x="10131425" y="9791"/>
                  </a:lnTo>
                  <a:lnTo>
                    <a:pt x="10082212" y="0"/>
                  </a:lnTo>
                  <a:lnTo>
                    <a:pt x="8686800" y="0"/>
                  </a:lnTo>
                  <a:lnTo>
                    <a:pt x="8686800" y="504825"/>
                  </a:lnTo>
                  <a:lnTo>
                    <a:pt x="10210800" y="504825"/>
                  </a:lnTo>
                  <a:lnTo>
                    <a:pt x="10210800" y="128587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9587" y="4162437"/>
              <a:ext cx="10210800" cy="495300"/>
            </a:xfrm>
            <a:custGeom>
              <a:avLst/>
              <a:gdLst/>
              <a:ahLst/>
              <a:cxnLst/>
              <a:rect l="l" t="t" r="r" b="b"/>
              <a:pathLst>
                <a:path w="10210800" h="495300">
                  <a:moveTo>
                    <a:pt x="3571875" y="0"/>
                  </a:moveTo>
                  <a:lnTo>
                    <a:pt x="0" y="0"/>
                  </a:lnTo>
                  <a:lnTo>
                    <a:pt x="0" y="366712"/>
                  </a:lnTo>
                  <a:lnTo>
                    <a:pt x="9791" y="415925"/>
                  </a:lnTo>
                  <a:lnTo>
                    <a:pt x="37668" y="457631"/>
                  </a:lnTo>
                  <a:lnTo>
                    <a:pt x="79387" y="485508"/>
                  </a:lnTo>
                  <a:lnTo>
                    <a:pt x="128587" y="495300"/>
                  </a:lnTo>
                  <a:lnTo>
                    <a:pt x="3571875" y="495300"/>
                  </a:lnTo>
                  <a:lnTo>
                    <a:pt x="3571875" y="0"/>
                  </a:lnTo>
                  <a:close/>
                </a:path>
                <a:path w="10210800" h="495300">
                  <a:moveTo>
                    <a:pt x="10210800" y="0"/>
                  </a:moveTo>
                  <a:lnTo>
                    <a:pt x="8686800" y="0"/>
                  </a:lnTo>
                  <a:lnTo>
                    <a:pt x="8686800" y="495300"/>
                  </a:lnTo>
                  <a:lnTo>
                    <a:pt x="10082212" y="495300"/>
                  </a:lnTo>
                  <a:lnTo>
                    <a:pt x="10094887" y="494677"/>
                  </a:lnTo>
                  <a:lnTo>
                    <a:pt x="10142893" y="480085"/>
                  </a:lnTo>
                  <a:lnTo>
                    <a:pt x="10181666" y="448233"/>
                  </a:lnTo>
                  <a:lnTo>
                    <a:pt x="10205301" y="403974"/>
                  </a:lnTo>
                  <a:lnTo>
                    <a:pt x="10210800" y="366712"/>
                  </a:lnTo>
                  <a:lnTo>
                    <a:pt x="10210800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09600" y="2657475"/>
          <a:ext cx="10208895" cy="19983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7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20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84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4190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350" b="1" spc="40" dirty="0">
                          <a:solidFill>
                            <a:srgbClr val="4B4A4A"/>
                          </a:solidFill>
                          <a:latin typeface="Trebuchet MS"/>
                          <a:cs typeface="Trebuchet MS"/>
                        </a:rPr>
                        <a:t>Metric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33350" marB="0">
                    <a:lnR w="9525">
                      <a:solidFill>
                        <a:srgbClr val="E6F9F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350" b="1" spc="45" dirty="0">
                          <a:solidFill>
                            <a:srgbClr val="4B4A4A"/>
                          </a:solidFill>
                          <a:latin typeface="Trebuchet MS"/>
                          <a:cs typeface="Trebuchet MS"/>
                        </a:rPr>
                        <a:t>Expected</a:t>
                      </a:r>
                      <a:r>
                        <a:rPr sz="1350" b="1" spc="-90" dirty="0">
                          <a:solidFill>
                            <a:srgbClr val="4B4A4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b="1" spc="-10" dirty="0">
                          <a:solidFill>
                            <a:srgbClr val="4B4A4A"/>
                          </a:solidFill>
                          <a:latin typeface="Trebuchet MS"/>
                          <a:cs typeface="Trebuchet MS"/>
                        </a:rPr>
                        <a:t>Target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33350" marB="0">
                    <a:lnL w="9525">
                      <a:solidFill>
                        <a:srgbClr val="E6F9F2"/>
                      </a:solidFill>
                      <a:prstDash val="solid"/>
                    </a:lnL>
                    <a:lnR w="9525">
                      <a:solidFill>
                        <a:srgbClr val="E6F9F2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350" b="1" spc="50" dirty="0">
                          <a:solidFill>
                            <a:srgbClr val="4B4A4A"/>
                          </a:solidFill>
                          <a:latin typeface="Trebuchet MS"/>
                          <a:cs typeface="Trebuchet MS"/>
                        </a:rPr>
                        <a:t>Actual</a:t>
                      </a:r>
                      <a:r>
                        <a:rPr sz="1350" b="1" spc="-80" dirty="0">
                          <a:solidFill>
                            <a:srgbClr val="4B4A4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50" b="1" spc="-10" dirty="0">
                          <a:solidFill>
                            <a:srgbClr val="4B4A4A"/>
                          </a:solidFill>
                          <a:latin typeface="Trebuchet MS"/>
                          <a:cs typeface="Trebuchet MS"/>
                        </a:rPr>
                        <a:t>Achieved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33350" marB="0">
                    <a:lnL w="9525">
                      <a:solidFill>
                        <a:srgbClr val="E6F9F2"/>
                      </a:solidFill>
                      <a:prstDash val="solid"/>
                    </a:lnL>
                    <a:lnR w="9525">
                      <a:solidFill>
                        <a:srgbClr val="E6F9F2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350" b="1" spc="75" dirty="0">
                          <a:solidFill>
                            <a:srgbClr val="4B4A4A"/>
                          </a:solidFill>
                          <a:latin typeface="Trebuchet MS"/>
                          <a:cs typeface="Trebuchet MS"/>
                        </a:rPr>
                        <a:t>Status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33350" marB="0">
                    <a:lnL w="9525">
                      <a:solidFill>
                        <a:srgbClr val="E6F9F2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665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350" spc="-4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Model</a:t>
                      </a:r>
                      <a:r>
                        <a:rPr sz="1350" spc="-114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50" spc="-1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Accuracy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T="133350" marB="0">
                    <a:lnR w="9525">
                      <a:solidFill>
                        <a:srgbClr val="E6F9F2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350" spc="-2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&gt;90%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T="133350" marB="0">
                    <a:lnL w="9525">
                      <a:solidFill>
                        <a:srgbClr val="E6F9F2"/>
                      </a:solidFill>
                      <a:prstDash val="solid"/>
                    </a:lnL>
                    <a:lnR w="9525">
                      <a:solidFill>
                        <a:srgbClr val="E6F9F2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350" spc="-1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97.5%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T="133350" marB="0">
                    <a:lnL w="9525">
                      <a:solidFill>
                        <a:srgbClr val="E6F9F2"/>
                      </a:solidFill>
                      <a:prstDash val="solid"/>
                    </a:lnL>
                    <a:lnR w="9525">
                      <a:solidFill>
                        <a:srgbClr val="E6F9F2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500" spc="-35" dirty="0">
                          <a:solidFill>
                            <a:srgbClr val="2E7D31"/>
                          </a:solidFill>
                          <a:latin typeface="Lucida Sans Unicode"/>
                          <a:cs typeface="Lucida Sans Unicode"/>
                        </a:rPr>
                        <a:t>7</a:t>
                      </a:r>
                      <a:r>
                        <a:rPr sz="1500" spc="-135" dirty="0">
                          <a:solidFill>
                            <a:srgbClr val="2E7D31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350" spc="-10" dirty="0">
                          <a:solidFill>
                            <a:srgbClr val="2E7D31"/>
                          </a:solidFill>
                          <a:latin typeface="Verdana"/>
                          <a:cs typeface="Verdana"/>
                        </a:rPr>
                        <a:t>Exceeded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T="114300" marB="0">
                    <a:lnL w="9525">
                      <a:solidFill>
                        <a:srgbClr val="E6F9F2"/>
                      </a:solidFill>
                      <a:prstDash val="solid"/>
                    </a:lnL>
                    <a:solidFill>
                      <a:srgbClr val="000000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350" spc="-7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Custom</a:t>
                      </a:r>
                      <a:r>
                        <a:rPr sz="1350" spc="-95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50" spc="-1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Prediction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T="133350" marB="0">
                    <a:lnR w="9525">
                      <a:solidFill>
                        <a:srgbClr val="E6F9F2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350" spc="-65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Correct</a:t>
                      </a:r>
                      <a:r>
                        <a:rPr sz="1350" spc="-10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50" spc="-1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digit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T="133350" marB="0">
                    <a:lnL w="9525">
                      <a:solidFill>
                        <a:srgbClr val="E6F9F2"/>
                      </a:solidFill>
                      <a:prstDash val="solid"/>
                    </a:lnL>
                    <a:lnR w="9525">
                      <a:solidFill>
                        <a:srgbClr val="E6F9F2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350" spc="-8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Digit</a:t>
                      </a:r>
                      <a:r>
                        <a:rPr sz="1350" spc="-125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50" spc="-5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3</a:t>
                      </a:r>
                      <a:r>
                        <a:rPr sz="1350" spc="-12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500" spc="-50" dirty="0">
                          <a:solidFill>
                            <a:srgbClr val="4B4A4A"/>
                          </a:solidFill>
                          <a:latin typeface="Lucida Sans Unicode"/>
                          <a:cs typeface="Lucida Sans Unicode"/>
                        </a:rPr>
                        <a:t>7</a:t>
                      </a:r>
                      <a:endParaRPr sz="15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14300" marB="0">
                    <a:lnL w="9525">
                      <a:solidFill>
                        <a:srgbClr val="E6F9F2"/>
                      </a:solidFill>
                      <a:prstDash val="solid"/>
                    </a:lnL>
                    <a:lnR w="9525">
                      <a:solidFill>
                        <a:srgbClr val="E6F9F2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500" spc="-35" dirty="0">
                          <a:solidFill>
                            <a:srgbClr val="2E7D31"/>
                          </a:solidFill>
                          <a:latin typeface="Lucida Sans Unicode"/>
                          <a:cs typeface="Lucida Sans Unicode"/>
                        </a:rPr>
                        <a:t>7</a:t>
                      </a:r>
                      <a:r>
                        <a:rPr sz="1500" spc="-135" dirty="0">
                          <a:solidFill>
                            <a:srgbClr val="2E7D31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350" spc="-10" dirty="0">
                          <a:solidFill>
                            <a:srgbClr val="2E7D31"/>
                          </a:solidFill>
                          <a:latin typeface="Verdana"/>
                          <a:cs typeface="Verdana"/>
                        </a:rPr>
                        <a:t>Passed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T="114300" marB="0">
                    <a:lnL w="9525">
                      <a:solidFill>
                        <a:srgbClr val="E6F9F2"/>
                      </a:solidFill>
                      <a:prstDash val="solid"/>
                    </a:lnL>
                    <a:solidFill>
                      <a:srgbClr val="FFFFFF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665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350" spc="-9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Training</a:t>
                      </a:r>
                      <a:r>
                        <a:rPr sz="1350" spc="-95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50" spc="-1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Convergence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T="123825" marB="0">
                    <a:lnR w="9525">
                      <a:solidFill>
                        <a:srgbClr val="E6F9F2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350" spc="-65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Rapid</a:t>
                      </a:r>
                      <a:r>
                        <a:rPr sz="1350" spc="-114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50" spc="-3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loss</a:t>
                      </a:r>
                      <a:r>
                        <a:rPr sz="1350" spc="-114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50" spc="-1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decrease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T="123825" marB="0">
                    <a:lnL w="9525">
                      <a:solidFill>
                        <a:srgbClr val="E6F9F2"/>
                      </a:solidFill>
                      <a:prstDash val="solid"/>
                    </a:lnL>
                    <a:lnR w="9525">
                      <a:solidFill>
                        <a:srgbClr val="E6F9F2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350" spc="-1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0.2435K0.0379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T="123825" marB="0">
                    <a:lnL w="9525">
                      <a:solidFill>
                        <a:srgbClr val="E6F9F2"/>
                      </a:solidFill>
                      <a:prstDash val="solid"/>
                    </a:lnL>
                    <a:lnR w="9525">
                      <a:solidFill>
                        <a:srgbClr val="E6F9F2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500" spc="-35" dirty="0">
                          <a:solidFill>
                            <a:srgbClr val="2E7D31"/>
                          </a:solidFill>
                          <a:latin typeface="Lucida Sans Unicode"/>
                          <a:cs typeface="Lucida Sans Unicode"/>
                        </a:rPr>
                        <a:t>7</a:t>
                      </a:r>
                      <a:r>
                        <a:rPr sz="1500" spc="-135" dirty="0">
                          <a:solidFill>
                            <a:srgbClr val="2E7D31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350" spc="-10" dirty="0">
                          <a:solidFill>
                            <a:srgbClr val="2E7D31"/>
                          </a:solidFill>
                          <a:latin typeface="Verdana"/>
                          <a:cs typeface="Verdana"/>
                        </a:rPr>
                        <a:t>Successful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T="104775" marB="0">
                    <a:lnL w="9525">
                      <a:solidFill>
                        <a:srgbClr val="E6F9F2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E0E3CAC-835A-2827-6BA7-F0419BA521D9}"/>
              </a:ext>
            </a:extLst>
          </p:cNvPr>
          <p:cNvSpPr txBox="1"/>
          <p:nvPr/>
        </p:nvSpPr>
        <p:spPr>
          <a:xfrm>
            <a:off x="1757508" y="169718"/>
            <a:ext cx="571730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000" b="1" dirty="0">
                <a:latin typeface="+mn-lt"/>
              </a:rPr>
              <a:t>Future Improvements &amp; Extensions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B136C714-4761-C477-C6A3-7C6D448142B2}"/>
              </a:ext>
            </a:extLst>
          </p:cNvPr>
          <p:cNvSpPr/>
          <p:nvPr/>
        </p:nvSpPr>
        <p:spPr>
          <a:xfrm>
            <a:off x="457200" y="1793875"/>
            <a:ext cx="3286125" cy="1962150"/>
          </a:xfrm>
          <a:custGeom>
            <a:avLst/>
            <a:gdLst/>
            <a:ahLst/>
            <a:cxnLst/>
            <a:rect l="l" t="t" r="r" b="b"/>
            <a:pathLst>
              <a:path w="3286125" h="1962150">
                <a:moveTo>
                  <a:pt x="3170428" y="0"/>
                </a:moveTo>
                <a:lnTo>
                  <a:pt x="115694" y="0"/>
                </a:lnTo>
                <a:lnTo>
                  <a:pt x="107642" y="800"/>
                </a:lnTo>
                <a:lnTo>
                  <a:pt x="68926" y="12534"/>
                </a:lnTo>
                <a:lnTo>
                  <a:pt x="30519" y="42011"/>
                </a:lnTo>
                <a:lnTo>
                  <a:pt x="6315" y="83947"/>
                </a:lnTo>
                <a:lnTo>
                  <a:pt x="0" y="115697"/>
                </a:lnTo>
                <a:lnTo>
                  <a:pt x="0" y="1838325"/>
                </a:lnTo>
                <a:lnTo>
                  <a:pt x="0" y="1846453"/>
                </a:lnTo>
                <a:lnTo>
                  <a:pt x="12536" y="1893227"/>
                </a:lnTo>
                <a:lnTo>
                  <a:pt x="42014" y="1931631"/>
                </a:lnTo>
                <a:lnTo>
                  <a:pt x="83949" y="1955838"/>
                </a:lnTo>
                <a:lnTo>
                  <a:pt x="115694" y="1962150"/>
                </a:lnTo>
                <a:lnTo>
                  <a:pt x="3170428" y="1962150"/>
                </a:lnTo>
                <a:lnTo>
                  <a:pt x="3217202" y="1949615"/>
                </a:lnTo>
                <a:lnTo>
                  <a:pt x="3255606" y="1920125"/>
                </a:lnTo>
                <a:lnTo>
                  <a:pt x="3279813" y="1878203"/>
                </a:lnTo>
                <a:lnTo>
                  <a:pt x="3286125" y="1846453"/>
                </a:lnTo>
                <a:lnTo>
                  <a:pt x="3286125" y="115697"/>
                </a:lnTo>
                <a:lnTo>
                  <a:pt x="3273590" y="68922"/>
                </a:lnTo>
                <a:lnTo>
                  <a:pt x="3244100" y="30518"/>
                </a:lnTo>
                <a:lnTo>
                  <a:pt x="3202178" y="6311"/>
                </a:lnTo>
                <a:lnTo>
                  <a:pt x="3178479" y="800"/>
                </a:lnTo>
                <a:lnTo>
                  <a:pt x="3170428" y="0"/>
                </a:lnTo>
                <a:close/>
              </a:path>
            </a:pathLst>
          </a:custGeom>
          <a:solidFill>
            <a:srgbClr val="D1EFE4"/>
          </a:solidFill>
        </p:spPr>
        <p:txBody>
          <a:bodyPr wrap="square" lIns="0" tIns="0" rIns="0" bIns="0" rtlCol="0" anchor="ctr" anchorCtr="0"/>
          <a:lstStyle/>
          <a:p>
            <a:pPr algn="ctr">
              <a:buNone/>
            </a:pPr>
            <a:r>
              <a:rPr lang="en-IN" sz="1800" b="1" dirty="0"/>
              <a:t>Research Directions</a:t>
            </a:r>
            <a:endParaRPr lang="en-IN" sz="1800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en-IN" sz="1800" dirty="0"/>
              <a:t>Compare performance with </a:t>
            </a:r>
            <a:r>
              <a:rPr lang="en-IN" sz="1800" b="1" dirty="0"/>
              <a:t>transformer-based</a:t>
            </a:r>
            <a:endParaRPr lang="en-IN" sz="1800" dirty="0"/>
          </a:p>
          <a:p>
            <a:pPr algn="ctr"/>
            <a:endParaRPr lang="en-IN" sz="1800" dirty="0"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6FDA6184-EB41-0A31-9725-534B1EB763B5}"/>
              </a:ext>
            </a:extLst>
          </p:cNvPr>
          <p:cNvSpPr/>
          <p:nvPr/>
        </p:nvSpPr>
        <p:spPr>
          <a:xfrm>
            <a:off x="7474816" y="4302413"/>
            <a:ext cx="3286125" cy="1962150"/>
          </a:xfrm>
          <a:custGeom>
            <a:avLst/>
            <a:gdLst/>
            <a:ahLst/>
            <a:cxnLst/>
            <a:rect l="l" t="t" r="r" b="b"/>
            <a:pathLst>
              <a:path w="3286125" h="1962150">
                <a:moveTo>
                  <a:pt x="3170428" y="0"/>
                </a:moveTo>
                <a:lnTo>
                  <a:pt x="115694" y="0"/>
                </a:lnTo>
                <a:lnTo>
                  <a:pt x="107642" y="800"/>
                </a:lnTo>
                <a:lnTo>
                  <a:pt x="68926" y="12534"/>
                </a:lnTo>
                <a:lnTo>
                  <a:pt x="30519" y="42011"/>
                </a:lnTo>
                <a:lnTo>
                  <a:pt x="6315" y="83947"/>
                </a:lnTo>
                <a:lnTo>
                  <a:pt x="0" y="115697"/>
                </a:lnTo>
                <a:lnTo>
                  <a:pt x="0" y="1838325"/>
                </a:lnTo>
                <a:lnTo>
                  <a:pt x="0" y="1846453"/>
                </a:lnTo>
                <a:lnTo>
                  <a:pt x="12536" y="1893227"/>
                </a:lnTo>
                <a:lnTo>
                  <a:pt x="42014" y="1931631"/>
                </a:lnTo>
                <a:lnTo>
                  <a:pt x="83949" y="1955838"/>
                </a:lnTo>
                <a:lnTo>
                  <a:pt x="115694" y="1962150"/>
                </a:lnTo>
                <a:lnTo>
                  <a:pt x="3170428" y="1962150"/>
                </a:lnTo>
                <a:lnTo>
                  <a:pt x="3217202" y="1949615"/>
                </a:lnTo>
                <a:lnTo>
                  <a:pt x="3255606" y="1920125"/>
                </a:lnTo>
                <a:lnTo>
                  <a:pt x="3279813" y="1878203"/>
                </a:lnTo>
                <a:lnTo>
                  <a:pt x="3286125" y="1846453"/>
                </a:lnTo>
                <a:lnTo>
                  <a:pt x="3286125" y="115697"/>
                </a:lnTo>
                <a:lnTo>
                  <a:pt x="3273590" y="68922"/>
                </a:lnTo>
                <a:lnTo>
                  <a:pt x="3244100" y="30518"/>
                </a:lnTo>
                <a:lnTo>
                  <a:pt x="3202178" y="6311"/>
                </a:lnTo>
                <a:lnTo>
                  <a:pt x="3178479" y="800"/>
                </a:lnTo>
                <a:lnTo>
                  <a:pt x="3170428" y="0"/>
                </a:lnTo>
                <a:close/>
              </a:path>
            </a:pathLst>
          </a:custGeom>
          <a:solidFill>
            <a:srgbClr val="D1EFE4"/>
          </a:solidFill>
        </p:spPr>
        <p:txBody>
          <a:bodyPr wrap="square" lIns="0" tIns="0" rIns="0" bIns="0" rtlCol="0" anchor="ctr" anchorCtr="0"/>
          <a:lstStyle/>
          <a:p>
            <a:pPr>
              <a:buNone/>
            </a:pPr>
            <a:r>
              <a:rPr lang="en-IN" sz="1800" b="1" dirty="0"/>
              <a:t>Advanced Architectures</a:t>
            </a:r>
            <a:endParaRPr lang="en-IN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Implement </a:t>
            </a:r>
            <a:r>
              <a:rPr lang="en-IN" sz="1800" b="1" dirty="0"/>
              <a:t>Convolutional Neural Networks (CNNs)</a:t>
            </a:r>
            <a:r>
              <a:rPr lang="en-IN" sz="1800" dirty="0"/>
              <a:t> for spatial feature extraction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Explore </a:t>
            </a:r>
            <a:r>
              <a:rPr lang="en-IN" sz="1800" b="1" dirty="0"/>
              <a:t>Residual Networks (</a:t>
            </a:r>
            <a:r>
              <a:rPr lang="en-IN" sz="1800" b="1" dirty="0" err="1"/>
              <a:t>ResNets</a:t>
            </a:r>
            <a:r>
              <a:rPr lang="en-IN" sz="1800" b="1" dirty="0"/>
              <a:t>)</a:t>
            </a:r>
            <a:r>
              <a:rPr lang="en-IN" sz="1800" dirty="0"/>
              <a:t> for deeper learning</a:t>
            </a:r>
          </a:p>
          <a:p>
            <a:endParaRPr dirty="0"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11477210-3A7A-B1CE-7BDE-0043ADED1D28}"/>
              </a:ext>
            </a:extLst>
          </p:cNvPr>
          <p:cNvSpPr/>
          <p:nvPr/>
        </p:nvSpPr>
        <p:spPr>
          <a:xfrm>
            <a:off x="590983" y="4294043"/>
            <a:ext cx="3286125" cy="1962150"/>
          </a:xfrm>
          <a:custGeom>
            <a:avLst/>
            <a:gdLst/>
            <a:ahLst/>
            <a:cxnLst/>
            <a:rect l="l" t="t" r="r" b="b"/>
            <a:pathLst>
              <a:path w="3286125" h="1962150">
                <a:moveTo>
                  <a:pt x="3170428" y="0"/>
                </a:moveTo>
                <a:lnTo>
                  <a:pt x="115694" y="0"/>
                </a:lnTo>
                <a:lnTo>
                  <a:pt x="107642" y="800"/>
                </a:lnTo>
                <a:lnTo>
                  <a:pt x="68926" y="12534"/>
                </a:lnTo>
                <a:lnTo>
                  <a:pt x="30519" y="42011"/>
                </a:lnTo>
                <a:lnTo>
                  <a:pt x="6315" y="83947"/>
                </a:lnTo>
                <a:lnTo>
                  <a:pt x="0" y="115697"/>
                </a:lnTo>
                <a:lnTo>
                  <a:pt x="0" y="1838325"/>
                </a:lnTo>
                <a:lnTo>
                  <a:pt x="0" y="1846453"/>
                </a:lnTo>
                <a:lnTo>
                  <a:pt x="12536" y="1893227"/>
                </a:lnTo>
                <a:lnTo>
                  <a:pt x="42014" y="1931631"/>
                </a:lnTo>
                <a:lnTo>
                  <a:pt x="83949" y="1955838"/>
                </a:lnTo>
                <a:lnTo>
                  <a:pt x="115694" y="1962150"/>
                </a:lnTo>
                <a:lnTo>
                  <a:pt x="3170428" y="1962150"/>
                </a:lnTo>
                <a:lnTo>
                  <a:pt x="3217202" y="1949615"/>
                </a:lnTo>
                <a:lnTo>
                  <a:pt x="3255606" y="1920125"/>
                </a:lnTo>
                <a:lnTo>
                  <a:pt x="3279813" y="1878203"/>
                </a:lnTo>
                <a:lnTo>
                  <a:pt x="3286125" y="1846453"/>
                </a:lnTo>
                <a:lnTo>
                  <a:pt x="3286125" y="115697"/>
                </a:lnTo>
                <a:lnTo>
                  <a:pt x="3273590" y="68922"/>
                </a:lnTo>
                <a:lnTo>
                  <a:pt x="3244100" y="30518"/>
                </a:lnTo>
                <a:lnTo>
                  <a:pt x="3202178" y="6311"/>
                </a:lnTo>
                <a:lnTo>
                  <a:pt x="3178479" y="800"/>
                </a:lnTo>
                <a:lnTo>
                  <a:pt x="3170428" y="0"/>
                </a:lnTo>
                <a:close/>
              </a:path>
            </a:pathLst>
          </a:custGeom>
          <a:solidFill>
            <a:srgbClr val="D1EFE4"/>
          </a:solidFill>
        </p:spPr>
        <p:txBody>
          <a:bodyPr wrap="square" lIns="0" tIns="0" rIns="0" bIns="0" rtlCol="0" anchor="ctr" anchorCtr="0"/>
          <a:lstStyle/>
          <a:p>
            <a:pPr>
              <a:buNone/>
            </a:pPr>
            <a:r>
              <a:rPr lang="en-IN" sz="1800" b="1" dirty="0"/>
              <a:t>Regularization Enhancements</a:t>
            </a:r>
            <a:endParaRPr lang="en-IN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Add </a:t>
            </a:r>
            <a:r>
              <a:rPr lang="en-IN" sz="1800" b="1" dirty="0"/>
              <a:t>Dropout layers</a:t>
            </a:r>
            <a:r>
              <a:rPr lang="en-IN" sz="1800" dirty="0"/>
              <a:t> to reduce overfitting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Experiment with </a:t>
            </a:r>
            <a:r>
              <a:rPr lang="en-IN" sz="1800" b="1" dirty="0"/>
              <a:t>L2 weight regularization</a:t>
            </a:r>
            <a:endParaRPr lang="en-IN" sz="1800" dirty="0"/>
          </a:p>
          <a:p>
            <a:endParaRPr dirty="0"/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C1A06F4D-7084-4DDF-2EFF-A69D46CC01A2}"/>
              </a:ext>
            </a:extLst>
          </p:cNvPr>
          <p:cNvSpPr/>
          <p:nvPr/>
        </p:nvSpPr>
        <p:spPr>
          <a:xfrm>
            <a:off x="7467600" y="1622425"/>
            <a:ext cx="3286125" cy="1962150"/>
          </a:xfrm>
          <a:custGeom>
            <a:avLst/>
            <a:gdLst/>
            <a:ahLst/>
            <a:cxnLst/>
            <a:rect l="l" t="t" r="r" b="b"/>
            <a:pathLst>
              <a:path w="3286125" h="1962150">
                <a:moveTo>
                  <a:pt x="3170428" y="0"/>
                </a:moveTo>
                <a:lnTo>
                  <a:pt x="115694" y="0"/>
                </a:lnTo>
                <a:lnTo>
                  <a:pt x="107642" y="800"/>
                </a:lnTo>
                <a:lnTo>
                  <a:pt x="68926" y="12534"/>
                </a:lnTo>
                <a:lnTo>
                  <a:pt x="30519" y="42011"/>
                </a:lnTo>
                <a:lnTo>
                  <a:pt x="6315" y="83947"/>
                </a:lnTo>
                <a:lnTo>
                  <a:pt x="0" y="115697"/>
                </a:lnTo>
                <a:lnTo>
                  <a:pt x="0" y="1838325"/>
                </a:lnTo>
                <a:lnTo>
                  <a:pt x="0" y="1846453"/>
                </a:lnTo>
                <a:lnTo>
                  <a:pt x="12536" y="1893227"/>
                </a:lnTo>
                <a:lnTo>
                  <a:pt x="42014" y="1931631"/>
                </a:lnTo>
                <a:lnTo>
                  <a:pt x="83949" y="1955838"/>
                </a:lnTo>
                <a:lnTo>
                  <a:pt x="115694" y="1962150"/>
                </a:lnTo>
                <a:lnTo>
                  <a:pt x="3170428" y="1962150"/>
                </a:lnTo>
                <a:lnTo>
                  <a:pt x="3217202" y="1949615"/>
                </a:lnTo>
                <a:lnTo>
                  <a:pt x="3255606" y="1920125"/>
                </a:lnTo>
                <a:lnTo>
                  <a:pt x="3279813" y="1878203"/>
                </a:lnTo>
                <a:lnTo>
                  <a:pt x="3286125" y="1846453"/>
                </a:lnTo>
                <a:lnTo>
                  <a:pt x="3286125" y="115697"/>
                </a:lnTo>
                <a:lnTo>
                  <a:pt x="3273590" y="68922"/>
                </a:lnTo>
                <a:lnTo>
                  <a:pt x="3244100" y="30518"/>
                </a:lnTo>
                <a:lnTo>
                  <a:pt x="3202178" y="6311"/>
                </a:lnTo>
                <a:lnTo>
                  <a:pt x="3178479" y="800"/>
                </a:lnTo>
                <a:lnTo>
                  <a:pt x="3170428" y="0"/>
                </a:lnTo>
                <a:close/>
              </a:path>
            </a:pathLst>
          </a:custGeom>
          <a:solidFill>
            <a:srgbClr val="D1EFE4"/>
          </a:solidFill>
        </p:spPr>
        <p:txBody>
          <a:bodyPr wrap="square" lIns="0" tIns="0" rIns="0" bIns="0" rtlCol="0" anchor="ctr" anchorCtr="0"/>
          <a:lstStyle/>
          <a:p>
            <a:pPr>
              <a:buNone/>
            </a:pPr>
            <a:r>
              <a:rPr lang="en-IN" sz="1800" b="1" dirty="0"/>
              <a:t>Data Augmentation</a:t>
            </a:r>
            <a:endParaRPr lang="en-IN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Rotate, shift, and scale digits to improve robustness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Generate synthetic samples to balance class distributions</a:t>
            </a: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C2510284-7494-346D-B6F5-58B61A176EC1}"/>
              </a:ext>
            </a:extLst>
          </p:cNvPr>
          <p:cNvSpPr/>
          <p:nvPr/>
        </p:nvSpPr>
        <p:spPr>
          <a:xfrm>
            <a:off x="3962400" y="2131332"/>
            <a:ext cx="3286125" cy="1962150"/>
          </a:xfrm>
          <a:custGeom>
            <a:avLst/>
            <a:gdLst/>
            <a:ahLst/>
            <a:cxnLst/>
            <a:rect l="l" t="t" r="r" b="b"/>
            <a:pathLst>
              <a:path w="3286125" h="1962150">
                <a:moveTo>
                  <a:pt x="3170428" y="0"/>
                </a:moveTo>
                <a:lnTo>
                  <a:pt x="115694" y="0"/>
                </a:lnTo>
                <a:lnTo>
                  <a:pt x="107642" y="800"/>
                </a:lnTo>
                <a:lnTo>
                  <a:pt x="68926" y="12534"/>
                </a:lnTo>
                <a:lnTo>
                  <a:pt x="30519" y="42011"/>
                </a:lnTo>
                <a:lnTo>
                  <a:pt x="6315" y="83947"/>
                </a:lnTo>
                <a:lnTo>
                  <a:pt x="0" y="115697"/>
                </a:lnTo>
                <a:lnTo>
                  <a:pt x="0" y="1838325"/>
                </a:lnTo>
                <a:lnTo>
                  <a:pt x="0" y="1846453"/>
                </a:lnTo>
                <a:lnTo>
                  <a:pt x="12536" y="1893227"/>
                </a:lnTo>
                <a:lnTo>
                  <a:pt x="42014" y="1931631"/>
                </a:lnTo>
                <a:lnTo>
                  <a:pt x="83949" y="1955838"/>
                </a:lnTo>
                <a:lnTo>
                  <a:pt x="115694" y="1962150"/>
                </a:lnTo>
                <a:lnTo>
                  <a:pt x="3170428" y="1962150"/>
                </a:lnTo>
                <a:lnTo>
                  <a:pt x="3217202" y="1949615"/>
                </a:lnTo>
                <a:lnTo>
                  <a:pt x="3255606" y="1920125"/>
                </a:lnTo>
                <a:lnTo>
                  <a:pt x="3279813" y="1878203"/>
                </a:lnTo>
                <a:lnTo>
                  <a:pt x="3286125" y="1846453"/>
                </a:lnTo>
                <a:lnTo>
                  <a:pt x="3286125" y="115697"/>
                </a:lnTo>
                <a:lnTo>
                  <a:pt x="3273590" y="68922"/>
                </a:lnTo>
                <a:lnTo>
                  <a:pt x="3244100" y="30518"/>
                </a:lnTo>
                <a:lnTo>
                  <a:pt x="3202178" y="6311"/>
                </a:lnTo>
                <a:lnTo>
                  <a:pt x="3178479" y="800"/>
                </a:lnTo>
                <a:lnTo>
                  <a:pt x="3170428" y="0"/>
                </a:lnTo>
                <a:close/>
              </a:path>
            </a:pathLst>
          </a:custGeom>
          <a:solidFill>
            <a:srgbClr val="D1EFE4"/>
          </a:solidFill>
        </p:spPr>
        <p:txBody>
          <a:bodyPr wrap="square" lIns="0" tIns="0" rIns="0" bIns="0" rtlCol="0" anchor="ctr" anchorCtr="0"/>
          <a:lstStyle/>
          <a:p>
            <a:pPr algn="ctr"/>
            <a:r>
              <a:rPr lang="en-IN" sz="1800" b="1" dirty="0"/>
              <a:t>models</a:t>
            </a:r>
            <a:endParaRPr lang="en-IN" sz="1800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en-IN" sz="1800" dirty="0"/>
              <a:t>Extend to </a:t>
            </a:r>
            <a:r>
              <a:rPr lang="en-IN" sz="1800" b="1" dirty="0"/>
              <a:t>multi-digit recognition</a:t>
            </a:r>
            <a:r>
              <a:rPr lang="en-IN" sz="1800" dirty="0"/>
              <a:t> tasks</a:t>
            </a:r>
          </a:p>
        </p:txBody>
      </p:sp>
    </p:spTree>
    <p:extLst>
      <p:ext uri="{BB962C8B-B14F-4D97-AF65-F5344CB8AC3E}">
        <p14:creationId xmlns:p14="http://schemas.microsoft.com/office/powerpoint/2010/main" val="1943316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1139825"/>
            <a:ext cx="630872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30" dirty="0"/>
              <a:t>Conclusion</a:t>
            </a:r>
            <a:r>
              <a:rPr spc="-275" dirty="0"/>
              <a:t> </a:t>
            </a:r>
            <a:r>
              <a:rPr spc="-210" dirty="0"/>
              <a:t>&amp;</a:t>
            </a:r>
            <a:r>
              <a:rPr spc="-270" dirty="0"/>
              <a:t> </a:t>
            </a:r>
            <a:r>
              <a:rPr spc="-220" dirty="0"/>
              <a:t>Key</a:t>
            </a:r>
            <a:r>
              <a:rPr spc="-260" dirty="0"/>
              <a:t> </a:t>
            </a:r>
            <a:r>
              <a:rPr spc="-300" dirty="0"/>
              <a:t>Takeaways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00075" y="2009774"/>
            <a:ext cx="3295650" cy="1971675"/>
            <a:chOff x="600075" y="2009774"/>
            <a:chExt cx="3295650" cy="1971675"/>
          </a:xfrm>
        </p:grpSpPr>
        <p:sp>
          <p:nvSpPr>
            <p:cNvPr id="4" name="object 4"/>
            <p:cNvSpPr/>
            <p:nvPr/>
          </p:nvSpPr>
          <p:spPr>
            <a:xfrm>
              <a:off x="604837" y="2014537"/>
              <a:ext cx="3286125" cy="1962150"/>
            </a:xfrm>
            <a:custGeom>
              <a:avLst/>
              <a:gdLst/>
              <a:ahLst/>
              <a:cxnLst/>
              <a:rect l="l" t="t" r="r" b="b"/>
              <a:pathLst>
                <a:path w="3286125" h="1962150">
                  <a:moveTo>
                    <a:pt x="3170428" y="0"/>
                  </a:moveTo>
                  <a:lnTo>
                    <a:pt x="115694" y="0"/>
                  </a:lnTo>
                  <a:lnTo>
                    <a:pt x="107642" y="800"/>
                  </a:lnTo>
                  <a:lnTo>
                    <a:pt x="68926" y="12534"/>
                  </a:lnTo>
                  <a:lnTo>
                    <a:pt x="30519" y="42011"/>
                  </a:lnTo>
                  <a:lnTo>
                    <a:pt x="6315" y="83947"/>
                  </a:lnTo>
                  <a:lnTo>
                    <a:pt x="0" y="115697"/>
                  </a:lnTo>
                  <a:lnTo>
                    <a:pt x="0" y="1838325"/>
                  </a:lnTo>
                  <a:lnTo>
                    <a:pt x="0" y="1846453"/>
                  </a:lnTo>
                  <a:lnTo>
                    <a:pt x="12536" y="1893227"/>
                  </a:lnTo>
                  <a:lnTo>
                    <a:pt x="42014" y="1931631"/>
                  </a:lnTo>
                  <a:lnTo>
                    <a:pt x="83949" y="1955838"/>
                  </a:lnTo>
                  <a:lnTo>
                    <a:pt x="115694" y="1962150"/>
                  </a:lnTo>
                  <a:lnTo>
                    <a:pt x="3170428" y="1962150"/>
                  </a:lnTo>
                  <a:lnTo>
                    <a:pt x="3217202" y="1949615"/>
                  </a:lnTo>
                  <a:lnTo>
                    <a:pt x="3255606" y="1920125"/>
                  </a:lnTo>
                  <a:lnTo>
                    <a:pt x="3279813" y="1878203"/>
                  </a:lnTo>
                  <a:lnTo>
                    <a:pt x="3286125" y="1846453"/>
                  </a:lnTo>
                  <a:lnTo>
                    <a:pt x="3286125" y="115697"/>
                  </a:lnTo>
                  <a:lnTo>
                    <a:pt x="3273590" y="68922"/>
                  </a:lnTo>
                  <a:lnTo>
                    <a:pt x="3244100" y="30518"/>
                  </a:lnTo>
                  <a:lnTo>
                    <a:pt x="3202178" y="6311"/>
                  </a:lnTo>
                  <a:lnTo>
                    <a:pt x="3178479" y="800"/>
                  </a:lnTo>
                  <a:lnTo>
                    <a:pt x="3170428" y="0"/>
                  </a:lnTo>
                  <a:close/>
                </a:path>
              </a:pathLst>
            </a:custGeom>
            <a:solidFill>
              <a:srgbClr val="D1E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4837" y="2014537"/>
              <a:ext cx="3286125" cy="1962150"/>
            </a:xfrm>
            <a:custGeom>
              <a:avLst/>
              <a:gdLst/>
              <a:ahLst/>
              <a:cxnLst/>
              <a:rect l="l" t="t" r="r" b="b"/>
              <a:pathLst>
                <a:path w="3286125" h="1962150">
                  <a:moveTo>
                    <a:pt x="0" y="1838325"/>
                  </a:moveTo>
                  <a:lnTo>
                    <a:pt x="0" y="123825"/>
                  </a:lnTo>
                  <a:lnTo>
                    <a:pt x="0" y="115697"/>
                  </a:lnTo>
                  <a:lnTo>
                    <a:pt x="793" y="107645"/>
                  </a:lnTo>
                  <a:lnTo>
                    <a:pt x="2381" y="99669"/>
                  </a:lnTo>
                  <a:lnTo>
                    <a:pt x="3963" y="91694"/>
                  </a:lnTo>
                  <a:lnTo>
                    <a:pt x="6315" y="83947"/>
                  </a:lnTo>
                  <a:lnTo>
                    <a:pt x="9425" y="76441"/>
                  </a:lnTo>
                  <a:lnTo>
                    <a:pt x="12536" y="68922"/>
                  </a:lnTo>
                  <a:lnTo>
                    <a:pt x="16351" y="61785"/>
                  </a:lnTo>
                  <a:lnTo>
                    <a:pt x="20866" y="55029"/>
                  </a:lnTo>
                  <a:lnTo>
                    <a:pt x="25384" y="48272"/>
                  </a:lnTo>
                  <a:lnTo>
                    <a:pt x="30519" y="42011"/>
                  </a:lnTo>
                  <a:lnTo>
                    <a:pt x="36269" y="36271"/>
                  </a:lnTo>
                  <a:lnTo>
                    <a:pt x="42014" y="30518"/>
                  </a:lnTo>
                  <a:lnTo>
                    <a:pt x="76438" y="9423"/>
                  </a:lnTo>
                  <a:lnTo>
                    <a:pt x="83949" y="6311"/>
                  </a:lnTo>
                  <a:lnTo>
                    <a:pt x="91692" y="3962"/>
                  </a:lnTo>
                  <a:lnTo>
                    <a:pt x="99669" y="2374"/>
                  </a:lnTo>
                  <a:lnTo>
                    <a:pt x="107642" y="800"/>
                  </a:lnTo>
                  <a:lnTo>
                    <a:pt x="115694" y="0"/>
                  </a:lnTo>
                  <a:lnTo>
                    <a:pt x="123825" y="0"/>
                  </a:lnTo>
                  <a:lnTo>
                    <a:pt x="3162300" y="0"/>
                  </a:lnTo>
                  <a:lnTo>
                    <a:pt x="3170428" y="0"/>
                  </a:lnTo>
                  <a:lnTo>
                    <a:pt x="3178479" y="800"/>
                  </a:lnTo>
                  <a:lnTo>
                    <a:pt x="3186455" y="2374"/>
                  </a:lnTo>
                  <a:lnTo>
                    <a:pt x="3194431" y="3962"/>
                  </a:lnTo>
                  <a:lnTo>
                    <a:pt x="3202178" y="6311"/>
                  </a:lnTo>
                  <a:lnTo>
                    <a:pt x="3209683" y="9423"/>
                  </a:lnTo>
                  <a:lnTo>
                    <a:pt x="3217202" y="12534"/>
                  </a:lnTo>
                  <a:lnTo>
                    <a:pt x="3249853" y="36271"/>
                  </a:lnTo>
                  <a:lnTo>
                    <a:pt x="3255606" y="42011"/>
                  </a:lnTo>
                  <a:lnTo>
                    <a:pt x="3260737" y="48272"/>
                  </a:lnTo>
                  <a:lnTo>
                    <a:pt x="3265258" y="55029"/>
                  </a:lnTo>
                  <a:lnTo>
                    <a:pt x="3269780" y="61785"/>
                  </a:lnTo>
                  <a:lnTo>
                    <a:pt x="3273590" y="68922"/>
                  </a:lnTo>
                  <a:lnTo>
                    <a:pt x="3276701" y="76441"/>
                  </a:lnTo>
                  <a:lnTo>
                    <a:pt x="3279813" y="83947"/>
                  </a:lnTo>
                  <a:lnTo>
                    <a:pt x="3282162" y="91694"/>
                  </a:lnTo>
                  <a:lnTo>
                    <a:pt x="3283750" y="99669"/>
                  </a:lnTo>
                  <a:lnTo>
                    <a:pt x="3285337" y="107645"/>
                  </a:lnTo>
                  <a:lnTo>
                    <a:pt x="3286125" y="115697"/>
                  </a:lnTo>
                  <a:lnTo>
                    <a:pt x="3286125" y="123825"/>
                  </a:lnTo>
                  <a:lnTo>
                    <a:pt x="3286125" y="1838325"/>
                  </a:lnTo>
                  <a:lnTo>
                    <a:pt x="3286125" y="1846453"/>
                  </a:lnTo>
                  <a:lnTo>
                    <a:pt x="3285337" y="1854504"/>
                  </a:lnTo>
                  <a:lnTo>
                    <a:pt x="3283750" y="1862480"/>
                  </a:lnTo>
                  <a:lnTo>
                    <a:pt x="3282162" y="1870456"/>
                  </a:lnTo>
                  <a:lnTo>
                    <a:pt x="3279813" y="1878203"/>
                  </a:lnTo>
                  <a:lnTo>
                    <a:pt x="3276701" y="1885708"/>
                  </a:lnTo>
                  <a:lnTo>
                    <a:pt x="3273590" y="1893227"/>
                  </a:lnTo>
                  <a:lnTo>
                    <a:pt x="3249853" y="1925878"/>
                  </a:lnTo>
                  <a:lnTo>
                    <a:pt x="3217202" y="1949615"/>
                  </a:lnTo>
                  <a:lnTo>
                    <a:pt x="3209683" y="1952726"/>
                  </a:lnTo>
                  <a:lnTo>
                    <a:pt x="3202178" y="1955838"/>
                  </a:lnTo>
                  <a:lnTo>
                    <a:pt x="3194431" y="1958187"/>
                  </a:lnTo>
                  <a:lnTo>
                    <a:pt x="3186455" y="1959775"/>
                  </a:lnTo>
                  <a:lnTo>
                    <a:pt x="3178479" y="1961362"/>
                  </a:lnTo>
                  <a:lnTo>
                    <a:pt x="3170428" y="1962150"/>
                  </a:lnTo>
                  <a:lnTo>
                    <a:pt x="3162300" y="1962150"/>
                  </a:lnTo>
                  <a:lnTo>
                    <a:pt x="123825" y="1962150"/>
                  </a:lnTo>
                  <a:lnTo>
                    <a:pt x="115694" y="1962150"/>
                  </a:lnTo>
                  <a:lnTo>
                    <a:pt x="107642" y="1961362"/>
                  </a:lnTo>
                  <a:lnTo>
                    <a:pt x="99669" y="1959775"/>
                  </a:lnTo>
                  <a:lnTo>
                    <a:pt x="91692" y="1958187"/>
                  </a:lnTo>
                  <a:lnTo>
                    <a:pt x="83949" y="1955838"/>
                  </a:lnTo>
                  <a:lnTo>
                    <a:pt x="76438" y="1952726"/>
                  </a:lnTo>
                  <a:lnTo>
                    <a:pt x="68926" y="1949615"/>
                  </a:lnTo>
                  <a:lnTo>
                    <a:pt x="61793" y="1945805"/>
                  </a:lnTo>
                  <a:lnTo>
                    <a:pt x="55031" y="1941283"/>
                  </a:lnTo>
                  <a:lnTo>
                    <a:pt x="48270" y="1936762"/>
                  </a:lnTo>
                  <a:lnTo>
                    <a:pt x="42014" y="1931631"/>
                  </a:lnTo>
                  <a:lnTo>
                    <a:pt x="36269" y="1925878"/>
                  </a:lnTo>
                  <a:lnTo>
                    <a:pt x="30519" y="1920125"/>
                  </a:lnTo>
                  <a:lnTo>
                    <a:pt x="9425" y="1885708"/>
                  </a:lnTo>
                  <a:lnTo>
                    <a:pt x="6315" y="1878203"/>
                  </a:lnTo>
                  <a:lnTo>
                    <a:pt x="3963" y="1870456"/>
                  </a:lnTo>
                  <a:lnTo>
                    <a:pt x="2381" y="1862480"/>
                  </a:lnTo>
                  <a:lnTo>
                    <a:pt x="793" y="1854504"/>
                  </a:lnTo>
                  <a:lnTo>
                    <a:pt x="0" y="1846453"/>
                  </a:lnTo>
                  <a:lnTo>
                    <a:pt x="0" y="1838325"/>
                  </a:lnTo>
                  <a:close/>
                </a:path>
              </a:pathLst>
            </a:custGeom>
            <a:ln w="9525">
              <a:solidFill>
                <a:srgbClr val="B6D5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81050" y="2190749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8" y="0"/>
                  </a:moveTo>
                  <a:lnTo>
                    <a:pt x="248751" y="0"/>
                  </a:lnTo>
                  <a:lnTo>
                    <a:pt x="240347" y="406"/>
                  </a:lnTo>
                  <a:lnTo>
                    <a:pt x="198739" y="6578"/>
                  </a:lnTo>
                  <a:lnTo>
                    <a:pt x="150976" y="22796"/>
                  </a:lnTo>
                  <a:lnTo>
                    <a:pt x="107294" y="48018"/>
                  </a:lnTo>
                  <a:lnTo>
                    <a:pt x="69368" y="81280"/>
                  </a:lnTo>
                  <a:lnTo>
                    <a:pt x="38660" y="121297"/>
                  </a:lnTo>
                  <a:lnTo>
                    <a:pt x="16351" y="166535"/>
                  </a:lnTo>
                  <a:lnTo>
                    <a:pt x="3299" y="215265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83" y="315607"/>
                  </a:lnTo>
                  <a:lnTo>
                    <a:pt x="22800" y="363372"/>
                  </a:lnTo>
                  <a:lnTo>
                    <a:pt x="48022" y="407060"/>
                  </a:lnTo>
                  <a:lnTo>
                    <a:pt x="81280" y="444982"/>
                  </a:lnTo>
                  <a:lnTo>
                    <a:pt x="121300" y="475691"/>
                  </a:lnTo>
                  <a:lnTo>
                    <a:pt x="166538" y="497992"/>
                  </a:lnTo>
                  <a:lnTo>
                    <a:pt x="215265" y="511048"/>
                  </a:lnTo>
                  <a:lnTo>
                    <a:pt x="248751" y="514350"/>
                  </a:lnTo>
                  <a:lnTo>
                    <a:pt x="265598" y="514350"/>
                  </a:lnTo>
                  <a:lnTo>
                    <a:pt x="315610" y="507758"/>
                  </a:lnTo>
                  <a:lnTo>
                    <a:pt x="363373" y="491553"/>
                  </a:lnTo>
                  <a:lnTo>
                    <a:pt x="407055" y="466331"/>
                  </a:lnTo>
                  <a:lnTo>
                    <a:pt x="444981" y="433070"/>
                  </a:lnTo>
                  <a:lnTo>
                    <a:pt x="475689" y="393052"/>
                  </a:lnTo>
                  <a:lnTo>
                    <a:pt x="498005" y="347802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53" y="150977"/>
                  </a:lnTo>
                  <a:lnTo>
                    <a:pt x="466328" y="107289"/>
                  </a:lnTo>
                  <a:lnTo>
                    <a:pt x="433070" y="69367"/>
                  </a:lnTo>
                  <a:lnTo>
                    <a:pt x="393049" y="38658"/>
                  </a:lnTo>
                  <a:lnTo>
                    <a:pt x="347811" y="16357"/>
                  </a:lnTo>
                  <a:lnTo>
                    <a:pt x="299085" y="3302"/>
                  </a:lnTo>
                  <a:lnTo>
                    <a:pt x="274002" y="406"/>
                  </a:lnTo>
                  <a:lnTo>
                    <a:pt x="265598" y="0"/>
                  </a:lnTo>
                  <a:close/>
                </a:path>
              </a:pathLst>
            </a:custGeom>
            <a:solidFill>
              <a:srgbClr val="006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23925" y="2371458"/>
              <a:ext cx="231775" cy="156210"/>
            </a:xfrm>
            <a:custGeom>
              <a:avLst/>
              <a:gdLst/>
              <a:ahLst/>
              <a:cxnLst/>
              <a:rect l="l" t="t" r="r" b="b"/>
              <a:pathLst>
                <a:path w="231775" h="156210">
                  <a:moveTo>
                    <a:pt x="231428" y="0"/>
                  </a:moveTo>
                  <a:lnTo>
                    <a:pt x="75788" y="155752"/>
                  </a:lnTo>
                </a:path>
                <a:path w="231775" h="156210">
                  <a:moveTo>
                    <a:pt x="0" y="79819"/>
                  </a:moveTo>
                  <a:lnTo>
                    <a:pt x="75788" y="155752"/>
                  </a:lnTo>
                </a:path>
              </a:pathLst>
            </a:custGeom>
            <a:ln w="102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68350" y="2729309"/>
            <a:ext cx="2855595" cy="1032510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650" b="1" spc="-105" dirty="0">
                <a:solidFill>
                  <a:srgbClr val="4B4A4A"/>
                </a:solidFill>
                <a:latin typeface="Verdana"/>
                <a:cs typeface="Verdana"/>
              </a:rPr>
              <a:t>Target</a:t>
            </a:r>
            <a:r>
              <a:rPr sz="1650" b="1" spc="-114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650" b="1" spc="-10" dirty="0">
                <a:solidFill>
                  <a:srgbClr val="4B4A4A"/>
                </a:solidFill>
                <a:latin typeface="Verdana"/>
                <a:cs typeface="Verdana"/>
              </a:rPr>
              <a:t>Exceeded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385"/>
              </a:spcBef>
            </a:pPr>
            <a:r>
              <a:rPr sz="1350" spc="-204" dirty="0">
                <a:solidFill>
                  <a:srgbClr val="4B4A4A"/>
                </a:solidFill>
                <a:latin typeface="Verdana"/>
                <a:cs typeface="Verdana"/>
              </a:rPr>
              <a:t>97.5%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accuracy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4B4A4A"/>
                </a:solidFill>
                <a:latin typeface="Verdana"/>
                <a:cs typeface="Verdana"/>
              </a:rPr>
              <a:t>surpasses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35" dirty="0">
                <a:solidFill>
                  <a:srgbClr val="4B4A4A"/>
                </a:solidFill>
                <a:latin typeface="Verdana"/>
                <a:cs typeface="Verdana"/>
              </a:rPr>
              <a:t>90%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4B4A4A"/>
                </a:solidFill>
                <a:latin typeface="Verdana"/>
                <a:cs typeface="Verdana"/>
              </a:rPr>
              <a:t>goal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with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strong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generalization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067175" y="2009774"/>
            <a:ext cx="3295650" cy="1971675"/>
            <a:chOff x="4067175" y="2009774"/>
            <a:chExt cx="3295650" cy="1971675"/>
          </a:xfrm>
        </p:grpSpPr>
        <p:sp>
          <p:nvSpPr>
            <p:cNvPr id="10" name="object 10"/>
            <p:cNvSpPr/>
            <p:nvPr/>
          </p:nvSpPr>
          <p:spPr>
            <a:xfrm>
              <a:off x="4071937" y="2014537"/>
              <a:ext cx="3286125" cy="1962150"/>
            </a:xfrm>
            <a:custGeom>
              <a:avLst/>
              <a:gdLst/>
              <a:ahLst/>
              <a:cxnLst/>
              <a:rect l="l" t="t" r="r" b="b"/>
              <a:pathLst>
                <a:path w="3286125" h="1962150">
                  <a:moveTo>
                    <a:pt x="3170428" y="0"/>
                  </a:moveTo>
                  <a:lnTo>
                    <a:pt x="115697" y="0"/>
                  </a:lnTo>
                  <a:lnTo>
                    <a:pt x="107645" y="800"/>
                  </a:lnTo>
                  <a:lnTo>
                    <a:pt x="68922" y="12534"/>
                  </a:lnTo>
                  <a:lnTo>
                    <a:pt x="30518" y="42011"/>
                  </a:lnTo>
                  <a:lnTo>
                    <a:pt x="6311" y="83947"/>
                  </a:lnTo>
                  <a:lnTo>
                    <a:pt x="0" y="115697"/>
                  </a:lnTo>
                  <a:lnTo>
                    <a:pt x="0" y="1838325"/>
                  </a:lnTo>
                  <a:lnTo>
                    <a:pt x="0" y="1846453"/>
                  </a:lnTo>
                  <a:lnTo>
                    <a:pt x="12534" y="1893227"/>
                  </a:lnTo>
                  <a:lnTo>
                    <a:pt x="42011" y="1931631"/>
                  </a:lnTo>
                  <a:lnTo>
                    <a:pt x="83947" y="1955838"/>
                  </a:lnTo>
                  <a:lnTo>
                    <a:pt x="115697" y="1962150"/>
                  </a:lnTo>
                  <a:lnTo>
                    <a:pt x="3170428" y="1962150"/>
                  </a:lnTo>
                  <a:lnTo>
                    <a:pt x="3217202" y="1949615"/>
                  </a:lnTo>
                  <a:lnTo>
                    <a:pt x="3255606" y="1920125"/>
                  </a:lnTo>
                  <a:lnTo>
                    <a:pt x="3279813" y="1878203"/>
                  </a:lnTo>
                  <a:lnTo>
                    <a:pt x="3286125" y="1846453"/>
                  </a:lnTo>
                  <a:lnTo>
                    <a:pt x="3286125" y="115697"/>
                  </a:lnTo>
                  <a:lnTo>
                    <a:pt x="3273590" y="68922"/>
                  </a:lnTo>
                  <a:lnTo>
                    <a:pt x="3244100" y="30518"/>
                  </a:lnTo>
                  <a:lnTo>
                    <a:pt x="3202165" y="6311"/>
                  </a:lnTo>
                  <a:lnTo>
                    <a:pt x="3178479" y="800"/>
                  </a:lnTo>
                  <a:lnTo>
                    <a:pt x="3170428" y="0"/>
                  </a:lnTo>
                  <a:close/>
                </a:path>
              </a:pathLst>
            </a:custGeom>
            <a:solidFill>
              <a:srgbClr val="D1E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71937" y="2014537"/>
              <a:ext cx="3286125" cy="1962150"/>
            </a:xfrm>
            <a:custGeom>
              <a:avLst/>
              <a:gdLst/>
              <a:ahLst/>
              <a:cxnLst/>
              <a:rect l="l" t="t" r="r" b="b"/>
              <a:pathLst>
                <a:path w="3286125" h="1962150">
                  <a:moveTo>
                    <a:pt x="0" y="1838325"/>
                  </a:moveTo>
                  <a:lnTo>
                    <a:pt x="0" y="123825"/>
                  </a:lnTo>
                  <a:lnTo>
                    <a:pt x="0" y="115697"/>
                  </a:lnTo>
                  <a:lnTo>
                    <a:pt x="800" y="107645"/>
                  </a:lnTo>
                  <a:lnTo>
                    <a:pt x="2374" y="99669"/>
                  </a:lnTo>
                  <a:lnTo>
                    <a:pt x="3962" y="91694"/>
                  </a:lnTo>
                  <a:lnTo>
                    <a:pt x="6311" y="83947"/>
                  </a:lnTo>
                  <a:lnTo>
                    <a:pt x="9423" y="76441"/>
                  </a:lnTo>
                  <a:lnTo>
                    <a:pt x="12534" y="68922"/>
                  </a:lnTo>
                  <a:lnTo>
                    <a:pt x="36271" y="36271"/>
                  </a:lnTo>
                  <a:lnTo>
                    <a:pt x="42011" y="30518"/>
                  </a:lnTo>
                  <a:lnTo>
                    <a:pt x="76441" y="9423"/>
                  </a:lnTo>
                  <a:lnTo>
                    <a:pt x="83947" y="6311"/>
                  </a:lnTo>
                  <a:lnTo>
                    <a:pt x="91694" y="3962"/>
                  </a:lnTo>
                  <a:lnTo>
                    <a:pt x="99669" y="2374"/>
                  </a:lnTo>
                  <a:lnTo>
                    <a:pt x="107645" y="800"/>
                  </a:lnTo>
                  <a:lnTo>
                    <a:pt x="115697" y="0"/>
                  </a:lnTo>
                  <a:lnTo>
                    <a:pt x="123825" y="0"/>
                  </a:lnTo>
                  <a:lnTo>
                    <a:pt x="3162300" y="0"/>
                  </a:lnTo>
                  <a:lnTo>
                    <a:pt x="3170428" y="0"/>
                  </a:lnTo>
                  <a:lnTo>
                    <a:pt x="3178479" y="800"/>
                  </a:lnTo>
                  <a:lnTo>
                    <a:pt x="3217202" y="12534"/>
                  </a:lnTo>
                  <a:lnTo>
                    <a:pt x="3249853" y="36271"/>
                  </a:lnTo>
                  <a:lnTo>
                    <a:pt x="3255606" y="42011"/>
                  </a:lnTo>
                  <a:lnTo>
                    <a:pt x="3260737" y="48272"/>
                  </a:lnTo>
                  <a:lnTo>
                    <a:pt x="3265258" y="55029"/>
                  </a:lnTo>
                  <a:lnTo>
                    <a:pt x="3269780" y="61785"/>
                  </a:lnTo>
                  <a:lnTo>
                    <a:pt x="3273590" y="68922"/>
                  </a:lnTo>
                  <a:lnTo>
                    <a:pt x="3276701" y="76441"/>
                  </a:lnTo>
                  <a:lnTo>
                    <a:pt x="3279813" y="83947"/>
                  </a:lnTo>
                  <a:lnTo>
                    <a:pt x="3282162" y="91694"/>
                  </a:lnTo>
                  <a:lnTo>
                    <a:pt x="3283750" y="99669"/>
                  </a:lnTo>
                  <a:lnTo>
                    <a:pt x="3285337" y="107645"/>
                  </a:lnTo>
                  <a:lnTo>
                    <a:pt x="3286125" y="115697"/>
                  </a:lnTo>
                  <a:lnTo>
                    <a:pt x="3286125" y="123825"/>
                  </a:lnTo>
                  <a:lnTo>
                    <a:pt x="3286125" y="1838325"/>
                  </a:lnTo>
                  <a:lnTo>
                    <a:pt x="3286125" y="1846453"/>
                  </a:lnTo>
                  <a:lnTo>
                    <a:pt x="3285337" y="1854504"/>
                  </a:lnTo>
                  <a:lnTo>
                    <a:pt x="3283750" y="1862480"/>
                  </a:lnTo>
                  <a:lnTo>
                    <a:pt x="3282162" y="1870456"/>
                  </a:lnTo>
                  <a:lnTo>
                    <a:pt x="3279813" y="1878203"/>
                  </a:lnTo>
                  <a:lnTo>
                    <a:pt x="3276701" y="1885708"/>
                  </a:lnTo>
                  <a:lnTo>
                    <a:pt x="3273590" y="1893227"/>
                  </a:lnTo>
                  <a:lnTo>
                    <a:pt x="3249853" y="1925878"/>
                  </a:lnTo>
                  <a:lnTo>
                    <a:pt x="3244100" y="1931631"/>
                  </a:lnTo>
                  <a:lnTo>
                    <a:pt x="3209683" y="1952726"/>
                  </a:lnTo>
                  <a:lnTo>
                    <a:pt x="3186455" y="1959775"/>
                  </a:lnTo>
                  <a:lnTo>
                    <a:pt x="3178479" y="1961362"/>
                  </a:lnTo>
                  <a:lnTo>
                    <a:pt x="3170428" y="1962150"/>
                  </a:lnTo>
                  <a:lnTo>
                    <a:pt x="3162300" y="1962150"/>
                  </a:lnTo>
                  <a:lnTo>
                    <a:pt x="123825" y="1962150"/>
                  </a:lnTo>
                  <a:lnTo>
                    <a:pt x="115697" y="1962150"/>
                  </a:lnTo>
                  <a:lnTo>
                    <a:pt x="107645" y="1961362"/>
                  </a:lnTo>
                  <a:lnTo>
                    <a:pt x="99669" y="1959775"/>
                  </a:lnTo>
                  <a:lnTo>
                    <a:pt x="91694" y="1958187"/>
                  </a:lnTo>
                  <a:lnTo>
                    <a:pt x="83947" y="1955838"/>
                  </a:lnTo>
                  <a:lnTo>
                    <a:pt x="76441" y="1952726"/>
                  </a:lnTo>
                  <a:lnTo>
                    <a:pt x="68922" y="1949615"/>
                  </a:lnTo>
                  <a:lnTo>
                    <a:pt x="36271" y="1925878"/>
                  </a:lnTo>
                  <a:lnTo>
                    <a:pt x="30518" y="1920125"/>
                  </a:lnTo>
                  <a:lnTo>
                    <a:pt x="9423" y="1885708"/>
                  </a:lnTo>
                  <a:lnTo>
                    <a:pt x="6311" y="1878203"/>
                  </a:lnTo>
                  <a:lnTo>
                    <a:pt x="3962" y="1870456"/>
                  </a:lnTo>
                  <a:lnTo>
                    <a:pt x="2387" y="1862480"/>
                  </a:lnTo>
                  <a:lnTo>
                    <a:pt x="800" y="1854504"/>
                  </a:lnTo>
                  <a:lnTo>
                    <a:pt x="0" y="1846453"/>
                  </a:lnTo>
                  <a:lnTo>
                    <a:pt x="0" y="1838325"/>
                  </a:lnTo>
                  <a:close/>
                </a:path>
              </a:pathLst>
            </a:custGeom>
            <a:ln w="9525">
              <a:solidFill>
                <a:srgbClr val="B6D5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48150" y="2190749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5" y="0"/>
                  </a:moveTo>
                  <a:lnTo>
                    <a:pt x="248754" y="0"/>
                  </a:lnTo>
                  <a:lnTo>
                    <a:pt x="240347" y="406"/>
                  </a:lnTo>
                  <a:lnTo>
                    <a:pt x="198742" y="6578"/>
                  </a:lnTo>
                  <a:lnTo>
                    <a:pt x="150977" y="22796"/>
                  </a:lnTo>
                  <a:lnTo>
                    <a:pt x="107289" y="48018"/>
                  </a:lnTo>
                  <a:lnTo>
                    <a:pt x="69367" y="81280"/>
                  </a:lnTo>
                  <a:lnTo>
                    <a:pt x="38658" y="121297"/>
                  </a:lnTo>
                  <a:lnTo>
                    <a:pt x="16357" y="166535"/>
                  </a:lnTo>
                  <a:lnTo>
                    <a:pt x="3302" y="215265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78" y="315607"/>
                  </a:lnTo>
                  <a:lnTo>
                    <a:pt x="22796" y="363372"/>
                  </a:lnTo>
                  <a:lnTo>
                    <a:pt x="48018" y="407060"/>
                  </a:lnTo>
                  <a:lnTo>
                    <a:pt x="81280" y="444982"/>
                  </a:lnTo>
                  <a:lnTo>
                    <a:pt x="121297" y="475691"/>
                  </a:lnTo>
                  <a:lnTo>
                    <a:pt x="166535" y="497992"/>
                  </a:lnTo>
                  <a:lnTo>
                    <a:pt x="215265" y="511048"/>
                  </a:lnTo>
                  <a:lnTo>
                    <a:pt x="248754" y="514350"/>
                  </a:lnTo>
                  <a:lnTo>
                    <a:pt x="265595" y="514350"/>
                  </a:lnTo>
                  <a:lnTo>
                    <a:pt x="315607" y="507758"/>
                  </a:lnTo>
                  <a:lnTo>
                    <a:pt x="363372" y="491553"/>
                  </a:lnTo>
                  <a:lnTo>
                    <a:pt x="407060" y="466331"/>
                  </a:lnTo>
                  <a:lnTo>
                    <a:pt x="444982" y="433070"/>
                  </a:lnTo>
                  <a:lnTo>
                    <a:pt x="475678" y="393052"/>
                  </a:lnTo>
                  <a:lnTo>
                    <a:pt x="497992" y="347802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53" y="150977"/>
                  </a:lnTo>
                  <a:lnTo>
                    <a:pt x="466331" y="107289"/>
                  </a:lnTo>
                  <a:lnTo>
                    <a:pt x="433070" y="69367"/>
                  </a:lnTo>
                  <a:lnTo>
                    <a:pt x="393052" y="38658"/>
                  </a:lnTo>
                  <a:lnTo>
                    <a:pt x="347814" y="16357"/>
                  </a:lnTo>
                  <a:lnTo>
                    <a:pt x="299085" y="3302"/>
                  </a:lnTo>
                  <a:lnTo>
                    <a:pt x="274002" y="406"/>
                  </a:lnTo>
                  <a:lnTo>
                    <a:pt x="265595" y="0"/>
                  </a:lnTo>
                  <a:close/>
                </a:path>
              </a:pathLst>
            </a:custGeom>
            <a:solidFill>
              <a:srgbClr val="006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88271" y="2328077"/>
              <a:ext cx="236888" cy="242108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4235450" y="2729309"/>
            <a:ext cx="2841625" cy="1032510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650" b="1" spc="-80" dirty="0">
                <a:solidFill>
                  <a:srgbClr val="4B4A4A"/>
                </a:solidFill>
                <a:latin typeface="Verdana"/>
                <a:cs typeface="Verdana"/>
              </a:rPr>
              <a:t>Effective</a:t>
            </a:r>
            <a:r>
              <a:rPr sz="1650" b="1" spc="-6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650" b="1" spc="-10" dirty="0">
                <a:solidFill>
                  <a:srgbClr val="4B4A4A"/>
                </a:solidFill>
                <a:latin typeface="Verdana"/>
                <a:cs typeface="Verdana"/>
              </a:rPr>
              <a:t>Architecture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385"/>
              </a:spcBef>
            </a:pP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Dual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hidden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layers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provide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4B4A4A"/>
                </a:solidFill>
                <a:latin typeface="Verdana"/>
                <a:cs typeface="Verdana"/>
              </a:rPr>
              <a:t>excellent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pattern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recognition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capacity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534275" y="2009774"/>
            <a:ext cx="3295650" cy="1971675"/>
            <a:chOff x="7534275" y="2009774"/>
            <a:chExt cx="3295650" cy="1971675"/>
          </a:xfrm>
        </p:grpSpPr>
        <p:sp>
          <p:nvSpPr>
            <p:cNvPr id="16" name="object 16"/>
            <p:cNvSpPr/>
            <p:nvPr/>
          </p:nvSpPr>
          <p:spPr>
            <a:xfrm>
              <a:off x="7539037" y="2014537"/>
              <a:ext cx="3286125" cy="1962150"/>
            </a:xfrm>
            <a:custGeom>
              <a:avLst/>
              <a:gdLst/>
              <a:ahLst/>
              <a:cxnLst/>
              <a:rect l="l" t="t" r="r" b="b"/>
              <a:pathLst>
                <a:path w="3286125" h="1962150">
                  <a:moveTo>
                    <a:pt x="3170428" y="0"/>
                  </a:moveTo>
                  <a:lnTo>
                    <a:pt x="115697" y="0"/>
                  </a:lnTo>
                  <a:lnTo>
                    <a:pt x="107645" y="800"/>
                  </a:lnTo>
                  <a:lnTo>
                    <a:pt x="68922" y="12534"/>
                  </a:lnTo>
                  <a:lnTo>
                    <a:pt x="30518" y="42011"/>
                  </a:lnTo>
                  <a:lnTo>
                    <a:pt x="6311" y="83947"/>
                  </a:lnTo>
                  <a:lnTo>
                    <a:pt x="0" y="115697"/>
                  </a:lnTo>
                  <a:lnTo>
                    <a:pt x="0" y="1838325"/>
                  </a:lnTo>
                  <a:lnTo>
                    <a:pt x="0" y="1846453"/>
                  </a:lnTo>
                  <a:lnTo>
                    <a:pt x="12534" y="1893227"/>
                  </a:lnTo>
                  <a:lnTo>
                    <a:pt x="42011" y="1931631"/>
                  </a:lnTo>
                  <a:lnTo>
                    <a:pt x="83947" y="1955838"/>
                  </a:lnTo>
                  <a:lnTo>
                    <a:pt x="115697" y="1962150"/>
                  </a:lnTo>
                  <a:lnTo>
                    <a:pt x="3170428" y="1962150"/>
                  </a:lnTo>
                  <a:lnTo>
                    <a:pt x="3217202" y="1949615"/>
                  </a:lnTo>
                  <a:lnTo>
                    <a:pt x="3255606" y="1920125"/>
                  </a:lnTo>
                  <a:lnTo>
                    <a:pt x="3279813" y="1878203"/>
                  </a:lnTo>
                  <a:lnTo>
                    <a:pt x="3286125" y="1846453"/>
                  </a:lnTo>
                  <a:lnTo>
                    <a:pt x="3286125" y="115697"/>
                  </a:lnTo>
                  <a:lnTo>
                    <a:pt x="3273590" y="68922"/>
                  </a:lnTo>
                  <a:lnTo>
                    <a:pt x="3244100" y="30518"/>
                  </a:lnTo>
                  <a:lnTo>
                    <a:pt x="3202178" y="6311"/>
                  </a:lnTo>
                  <a:lnTo>
                    <a:pt x="3178479" y="800"/>
                  </a:lnTo>
                  <a:lnTo>
                    <a:pt x="3170428" y="0"/>
                  </a:lnTo>
                  <a:close/>
                </a:path>
              </a:pathLst>
            </a:custGeom>
            <a:solidFill>
              <a:srgbClr val="D1E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539037" y="2014537"/>
              <a:ext cx="3286125" cy="1962150"/>
            </a:xfrm>
            <a:custGeom>
              <a:avLst/>
              <a:gdLst/>
              <a:ahLst/>
              <a:cxnLst/>
              <a:rect l="l" t="t" r="r" b="b"/>
              <a:pathLst>
                <a:path w="3286125" h="1962150">
                  <a:moveTo>
                    <a:pt x="0" y="1838325"/>
                  </a:moveTo>
                  <a:lnTo>
                    <a:pt x="0" y="123825"/>
                  </a:lnTo>
                  <a:lnTo>
                    <a:pt x="0" y="115697"/>
                  </a:lnTo>
                  <a:lnTo>
                    <a:pt x="800" y="107645"/>
                  </a:lnTo>
                  <a:lnTo>
                    <a:pt x="2374" y="99669"/>
                  </a:lnTo>
                  <a:lnTo>
                    <a:pt x="3962" y="91694"/>
                  </a:lnTo>
                  <a:lnTo>
                    <a:pt x="6311" y="83947"/>
                  </a:lnTo>
                  <a:lnTo>
                    <a:pt x="9423" y="76441"/>
                  </a:lnTo>
                  <a:lnTo>
                    <a:pt x="12534" y="68922"/>
                  </a:lnTo>
                  <a:lnTo>
                    <a:pt x="36258" y="36271"/>
                  </a:lnTo>
                  <a:lnTo>
                    <a:pt x="42011" y="30518"/>
                  </a:lnTo>
                  <a:lnTo>
                    <a:pt x="76441" y="9423"/>
                  </a:lnTo>
                  <a:lnTo>
                    <a:pt x="83947" y="6311"/>
                  </a:lnTo>
                  <a:lnTo>
                    <a:pt x="91694" y="3962"/>
                  </a:lnTo>
                  <a:lnTo>
                    <a:pt x="99669" y="2374"/>
                  </a:lnTo>
                  <a:lnTo>
                    <a:pt x="107645" y="800"/>
                  </a:lnTo>
                  <a:lnTo>
                    <a:pt x="115697" y="0"/>
                  </a:lnTo>
                  <a:lnTo>
                    <a:pt x="123825" y="0"/>
                  </a:lnTo>
                  <a:lnTo>
                    <a:pt x="3162300" y="0"/>
                  </a:lnTo>
                  <a:lnTo>
                    <a:pt x="3170428" y="0"/>
                  </a:lnTo>
                  <a:lnTo>
                    <a:pt x="3178479" y="800"/>
                  </a:lnTo>
                  <a:lnTo>
                    <a:pt x="3186455" y="2374"/>
                  </a:lnTo>
                  <a:lnTo>
                    <a:pt x="3194431" y="3962"/>
                  </a:lnTo>
                  <a:lnTo>
                    <a:pt x="3202178" y="6311"/>
                  </a:lnTo>
                  <a:lnTo>
                    <a:pt x="3209683" y="9423"/>
                  </a:lnTo>
                  <a:lnTo>
                    <a:pt x="3217202" y="12534"/>
                  </a:lnTo>
                  <a:lnTo>
                    <a:pt x="3249853" y="36271"/>
                  </a:lnTo>
                  <a:lnTo>
                    <a:pt x="3255606" y="42011"/>
                  </a:lnTo>
                  <a:lnTo>
                    <a:pt x="3276701" y="76441"/>
                  </a:lnTo>
                  <a:lnTo>
                    <a:pt x="3279813" y="83947"/>
                  </a:lnTo>
                  <a:lnTo>
                    <a:pt x="3282162" y="91694"/>
                  </a:lnTo>
                  <a:lnTo>
                    <a:pt x="3283750" y="99669"/>
                  </a:lnTo>
                  <a:lnTo>
                    <a:pt x="3285337" y="107645"/>
                  </a:lnTo>
                  <a:lnTo>
                    <a:pt x="3286125" y="115697"/>
                  </a:lnTo>
                  <a:lnTo>
                    <a:pt x="3286125" y="123825"/>
                  </a:lnTo>
                  <a:lnTo>
                    <a:pt x="3286125" y="1838325"/>
                  </a:lnTo>
                  <a:lnTo>
                    <a:pt x="3286125" y="1846453"/>
                  </a:lnTo>
                  <a:lnTo>
                    <a:pt x="3285337" y="1854504"/>
                  </a:lnTo>
                  <a:lnTo>
                    <a:pt x="3283750" y="1862480"/>
                  </a:lnTo>
                  <a:lnTo>
                    <a:pt x="3282162" y="1870456"/>
                  </a:lnTo>
                  <a:lnTo>
                    <a:pt x="3279813" y="1878203"/>
                  </a:lnTo>
                  <a:lnTo>
                    <a:pt x="3276701" y="1885708"/>
                  </a:lnTo>
                  <a:lnTo>
                    <a:pt x="3273590" y="1893227"/>
                  </a:lnTo>
                  <a:lnTo>
                    <a:pt x="3249853" y="1925878"/>
                  </a:lnTo>
                  <a:lnTo>
                    <a:pt x="3217202" y="1949615"/>
                  </a:lnTo>
                  <a:lnTo>
                    <a:pt x="3209683" y="1952726"/>
                  </a:lnTo>
                  <a:lnTo>
                    <a:pt x="3202178" y="1955838"/>
                  </a:lnTo>
                  <a:lnTo>
                    <a:pt x="3194431" y="1958187"/>
                  </a:lnTo>
                  <a:lnTo>
                    <a:pt x="3186455" y="1959775"/>
                  </a:lnTo>
                  <a:lnTo>
                    <a:pt x="3178479" y="1961362"/>
                  </a:lnTo>
                  <a:lnTo>
                    <a:pt x="3170428" y="1962150"/>
                  </a:lnTo>
                  <a:lnTo>
                    <a:pt x="3162300" y="1962150"/>
                  </a:lnTo>
                  <a:lnTo>
                    <a:pt x="123825" y="1962150"/>
                  </a:lnTo>
                  <a:lnTo>
                    <a:pt x="115697" y="1962150"/>
                  </a:lnTo>
                  <a:lnTo>
                    <a:pt x="107645" y="1961362"/>
                  </a:lnTo>
                  <a:lnTo>
                    <a:pt x="99669" y="1959775"/>
                  </a:lnTo>
                  <a:lnTo>
                    <a:pt x="91694" y="1958187"/>
                  </a:lnTo>
                  <a:lnTo>
                    <a:pt x="83947" y="1955838"/>
                  </a:lnTo>
                  <a:lnTo>
                    <a:pt x="76441" y="1952726"/>
                  </a:lnTo>
                  <a:lnTo>
                    <a:pt x="68922" y="1949615"/>
                  </a:lnTo>
                  <a:lnTo>
                    <a:pt x="61785" y="1945805"/>
                  </a:lnTo>
                  <a:lnTo>
                    <a:pt x="55029" y="1941283"/>
                  </a:lnTo>
                  <a:lnTo>
                    <a:pt x="48272" y="1936762"/>
                  </a:lnTo>
                  <a:lnTo>
                    <a:pt x="20866" y="1907120"/>
                  </a:lnTo>
                  <a:lnTo>
                    <a:pt x="9423" y="1885708"/>
                  </a:lnTo>
                  <a:lnTo>
                    <a:pt x="6311" y="1878203"/>
                  </a:lnTo>
                  <a:lnTo>
                    <a:pt x="3962" y="1870456"/>
                  </a:lnTo>
                  <a:lnTo>
                    <a:pt x="2387" y="1862480"/>
                  </a:lnTo>
                  <a:lnTo>
                    <a:pt x="800" y="1854504"/>
                  </a:lnTo>
                  <a:lnTo>
                    <a:pt x="0" y="1846453"/>
                  </a:lnTo>
                  <a:lnTo>
                    <a:pt x="0" y="1838325"/>
                  </a:lnTo>
                  <a:close/>
                </a:path>
              </a:pathLst>
            </a:custGeom>
            <a:ln w="9525">
              <a:solidFill>
                <a:srgbClr val="B6D5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715250" y="2190749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5" y="0"/>
                  </a:moveTo>
                  <a:lnTo>
                    <a:pt x="248754" y="0"/>
                  </a:lnTo>
                  <a:lnTo>
                    <a:pt x="240347" y="406"/>
                  </a:lnTo>
                  <a:lnTo>
                    <a:pt x="198742" y="6578"/>
                  </a:lnTo>
                  <a:lnTo>
                    <a:pt x="150977" y="22796"/>
                  </a:lnTo>
                  <a:lnTo>
                    <a:pt x="107289" y="48018"/>
                  </a:lnTo>
                  <a:lnTo>
                    <a:pt x="69367" y="81280"/>
                  </a:lnTo>
                  <a:lnTo>
                    <a:pt x="38658" y="121297"/>
                  </a:lnTo>
                  <a:lnTo>
                    <a:pt x="16357" y="166535"/>
                  </a:lnTo>
                  <a:lnTo>
                    <a:pt x="3302" y="215265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78" y="315607"/>
                  </a:lnTo>
                  <a:lnTo>
                    <a:pt x="22796" y="363372"/>
                  </a:lnTo>
                  <a:lnTo>
                    <a:pt x="48018" y="407060"/>
                  </a:lnTo>
                  <a:lnTo>
                    <a:pt x="81280" y="444982"/>
                  </a:lnTo>
                  <a:lnTo>
                    <a:pt x="121297" y="475691"/>
                  </a:lnTo>
                  <a:lnTo>
                    <a:pt x="166535" y="497992"/>
                  </a:lnTo>
                  <a:lnTo>
                    <a:pt x="215265" y="511048"/>
                  </a:lnTo>
                  <a:lnTo>
                    <a:pt x="248754" y="514350"/>
                  </a:lnTo>
                  <a:lnTo>
                    <a:pt x="265595" y="514350"/>
                  </a:lnTo>
                  <a:lnTo>
                    <a:pt x="315607" y="507758"/>
                  </a:lnTo>
                  <a:lnTo>
                    <a:pt x="363372" y="491553"/>
                  </a:lnTo>
                  <a:lnTo>
                    <a:pt x="407060" y="466331"/>
                  </a:lnTo>
                  <a:lnTo>
                    <a:pt x="444982" y="433070"/>
                  </a:lnTo>
                  <a:lnTo>
                    <a:pt x="475678" y="393052"/>
                  </a:lnTo>
                  <a:lnTo>
                    <a:pt x="497992" y="347802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58" y="198742"/>
                  </a:lnTo>
                  <a:lnTo>
                    <a:pt x="491553" y="150977"/>
                  </a:lnTo>
                  <a:lnTo>
                    <a:pt x="466331" y="107289"/>
                  </a:lnTo>
                  <a:lnTo>
                    <a:pt x="433070" y="69367"/>
                  </a:lnTo>
                  <a:lnTo>
                    <a:pt x="393052" y="38658"/>
                  </a:lnTo>
                  <a:lnTo>
                    <a:pt x="347802" y="16357"/>
                  </a:lnTo>
                  <a:lnTo>
                    <a:pt x="299085" y="3302"/>
                  </a:lnTo>
                  <a:lnTo>
                    <a:pt x="274002" y="406"/>
                  </a:lnTo>
                  <a:lnTo>
                    <a:pt x="265595" y="0"/>
                  </a:lnTo>
                  <a:close/>
                </a:path>
              </a:pathLst>
            </a:custGeom>
            <a:solidFill>
              <a:srgbClr val="006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52999" y="2374620"/>
              <a:ext cx="236557" cy="154566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7702550" y="2729309"/>
            <a:ext cx="2618105" cy="103251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 marR="5080">
              <a:lnSpc>
                <a:spcPct val="141000"/>
              </a:lnSpc>
              <a:spcBef>
                <a:spcPts val="495"/>
              </a:spcBef>
            </a:pPr>
            <a:r>
              <a:rPr sz="1650" b="1" spc="-60" dirty="0">
                <a:solidFill>
                  <a:srgbClr val="4B4A4A"/>
                </a:solidFill>
                <a:latin typeface="Verdana"/>
                <a:cs typeface="Verdana"/>
              </a:rPr>
              <a:t>Production </a:t>
            </a:r>
            <a:r>
              <a:rPr sz="1650" b="1" spc="-20" dirty="0">
                <a:solidFill>
                  <a:srgbClr val="4B4A4A"/>
                </a:solidFill>
                <a:latin typeface="Verdana"/>
                <a:cs typeface="Verdana"/>
              </a:rPr>
              <a:t>Ready </a:t>
            </a:r>
            <a:r>
              <a:rPr sz="1350" spc="-40" dirty="0">
                <a:solidFill>
                  <a:srgbClr val="4B4A4A"/>
                </a:solidFill>
                <a:latin typeface="Verdana"/>
                <a:cs typeface="Verdana"/>
              </a:rPr>
              <a:t>Successfully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4B4A4A"/>
                </a:solidFill>
                <a:latin typeface="Verdana"/>
                <a:cs typeface="Verdana"/>
              </a:rPr>
              <a:t>processes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custom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images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with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accurate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predictions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00075" y="4262437"/>
            <a:ext cx="10229850" cy="28575"/>
            <a:chOff x="600075" y="4262437"/>
            <a:chExt cx="10229850" cy="28575"/>
          </a:xfrm>
        </p:grpSpPr>
        <p:sp>
          <p:nvSpPr>
            <p:cNvPr id="22" name="object 22"/>
            <p:cNvSpPr/>
            <p:nvPr/>
          </p:nvSpPr>
          <p:spPr>
            <a:xfrm>
              <a:off x="600075" y="4262437"/>
              <a:ext cx="10229850" cy="28575"/>
            </a:xfrm>
            <a:custGeom>
              <a:avLst/>
              <a:gdLst/>
              <a:ahLst/>
              <a:cxnLst/>
              <a:rect l="l" t="t" r="r" b="b"/>
              <a:pathLst>
                <a:path w="10229850" h="28575">
                  <a:moveTo>
                    <a:pt x="10229850" y="0"/>
                  </a:moveTo>
                  <a:lnTo>
                    <a:pt x="0" y="0"/>
                  </a:lnTo>
                  <a:lnTo>
                    <a:pt x="0" y="28575"/>
                  </a:lnTo>
                  <a:lnTo>
                    <a:pt x="10229850" y="28575"/>
                  </a:lnTo>
                  <a:lnTo>
                    <a:pt x="10229850" y="0"/>
                  </a:lnTo>
                  <a:close/>
                </a:path>
              </a:pathLst>
            </a:custGeom>
            <a:solidFill>
              <a:srgbClr val="4B4A4A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00075" y="4281487"/>
              <a:ext cx="10229850" cy="9525"/>
            </a:xfrm>
            <a:custGeom>
              <a:avLst/>
              <a:gdLst/>
              <a:ahLst/>
              <a:cxnLst/>
              <a:rect l="l" t="t" r="r" b="b"/>
              <a:pathLst>
                <a:path w="10229850" h="9525">
                  <a:moveTo>
                    <a:pt x="1022985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0229850" y="9525"/>
                  </a:lnTo>
                  <a:lnTo>
                    <a:pt x="10229850" y="0"/>
                  </a:lnTo>
                  <a:close/>
                </a:path>
              </a:pathLst>
            </a:custGeom>
            <a:solidFill>
              <a:srgbClr val="ECEC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87375" y="4431665"/>
            <a:ext cx="9817735" cy="8350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60"/>
              </a:spcBef>
            </a:pP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This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implementation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demonstrates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a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complete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neural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network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pipeline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from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data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loading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 through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model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evaluation.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4B4A4A"/>
                </a:solidFill>
                <a:latin typeface="Verdana"/>
                <a:cs typeface="Verdana"/>
              </a:rPr>
              <a:t>The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architecture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4B4A4A"/>
                </a:solidFill>
                <a:latin typeface="Verdana"/>
                <a:cs typeface="Verdana"/>
              </a:rPr>
              <a:t>balances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complexity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with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performance,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achieving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excellent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accuracy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while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maintaining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training efficiency.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Future 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improvements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4B4A4A"/>
                </a:solidFill>
                <a:latin typeface="Verdana"/>
                <a:cs typeface="Verdana"/>
              </a:rPr>
              <a:t>could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 explore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dropout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for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regularization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or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convolutional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layers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for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enhanced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feature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extraction.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619</Words>
  <Application>Microsoft Office PowerPoint</Application>
  <PresentationFormat>Custom</PresentationFormat>
  <Paragraphs>121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Lucida Sans Unicode</vt:lpstr>
      <vt:lpstr>Trebuchet MS</vt:lpstr>
      <vt:lpstr>Verdana</vt:lpstr>
      <vt:lpstr>Office Theme</vt:lpstr>
      <vt:lpstr>MNIST Digit Classification Project</vt:lpstr>
      <vt:lpstr>Executive Summary</vt:lpstr>
      <vt:lpstr>Dataset Overview</vt:lpstr>
      <vt:lpstr>Neural Network Architecture</vt:lpstr>
      <vt:lpstr>Model Compilation &amp; Training</vt:lpstr>
      <vt:lpstr>Training Performance</vt:lpstr>
      <vt:lpstr>Model Evaluation Results</vt:lpstr>
      <vt:lpstr>Custom Image Prediction Pipeline</vt:lpstr>
      <vt:lpstr>Results vs. Expectations</vt:lpstr>
      <vt:lpstr>PowerPoint Presentation</vt:lpstr>
      <vt:lpstr>Conclusion &amp; Key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cp:lastModifiedBy>Aditi Janghu</cp:lastModifiedBy>
  <cp:revision>7</cp:revision>
  <dcterms:created xsi:type="dcterms:W3CDTF">2026-03-27T16:49:22Z</dcterms:created>
  <dcterms:modified xsi:type="dcterms:W3CDTF">2026-03-28T14:06:54Z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2026-03-27T00:00:00Z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2026-03-27T00:00:00Z</vt:filetime>
  </property>
  <property fmtid="{D5CDD505-2E9C-101B-9397-08002B2CF9AE}" pid="5" name="Producer">
    <vt:lpwstr>GPL Ghostscript 9.56.1</vt:lpwstr>
  </property>
</Properties>
</file>